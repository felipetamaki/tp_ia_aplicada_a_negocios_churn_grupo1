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A0AB"/>
              </a:solidFill>
              <a:effectLst/>
            </c:spPr>
          </c:dPt>
          <c:dPt>
            <c:idx val="1"/>
            <c:bubble3D val="0"/>
            <c:spPr>
              <a:solidFill>
                <a:srgbClr val="E8833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Churn = 0 (4.682)</c:v>
                </c:pt>
                <c:pt idx="1">
                  <c:v>Churn = 1 (948)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83.2</c:v>
                </c:pt>
                <c:pt idx="1">
                  <c:v>16.8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D3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PRESENTACION TECNICA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 clasificacion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churn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de clientes en riesgo con validacion agrupada, control de leakage y seleccion reproducible de modelos.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5074920"/>
            <a:ext cx="166420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50749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5.630 clientes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98648" y="5074920"/>
            <a:ext cx="1376172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98648" y="5074920"/>
            <a:ext cx="13761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 churn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3420" y="5074920"/>
            <a:ext cx="214426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03420" y="5074920"/>
            <a:ext cx="21442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agrupada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76288" y="5074920"/>
            <a:ext cx="3008376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76288" y="50749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final: Reg. logistica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ITBA · IA aplicada a negocios · Grupo 1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Y VARIABLE OBJETIVO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 clientes, target Churn binario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(18 predictoras)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16,8%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churn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869680" y="1645920"/>
          <a:ext cx="2926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3200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77240" y="3310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variables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515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Numericas continuas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ej. CashbackAmount, Tenure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377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1663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Numericas discretas / ordinales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OrderCount, SatisfactionScore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229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515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nominales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PreferedOrderCat, MaritalStatus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377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1663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 </a:t>
            </a:r>
            <a:pPr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Complain, Gender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50" b="1">
                <a:solidFill>
                  <a:srgbClr val="0E7C86"/>
                </a:solidFill>
                <a:latin typeface="Trebuchet MS"/>
              </a:rPr>
              <a:t>AUDITORIA DE CALIDAD E IMPUTACION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600" b="1">
                <a:solidFill>
                  <a:srgbClr val="1F2D34"/>
                </a:solidFill>
                <a:latin typeface="Trebuchet MS"/>
              </a:rPr>
              <a:t>Nulos, duplicados, categorias equivalentes e imputacion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2 / 11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4231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24231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1.856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2240279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filas con algun nulo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13432"/>
            <a:ext cx="2148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40" b="0" i="0">
                <a:solidFill>
                  <a:srgbClr val="6A7A82"/>
                </a:solidFill>
                <a:latin typeface="Calibri"/>
              </a:rPr>
              <a:t>exactamente 1 faltante c/u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417320"/>
            <a:ext cx="24231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563624"/>
            <a:ext cx="24231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556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029968"/>
            <a:ext cx="2240279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filas con features identicas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13432"/>
            <a:ext cx="2148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40" b="0" i="0">
                <a:solidFill>
                  <a:srgbClr val="6A7A82"/>
                </a:solidFill>
                <a:latin typeface="Calibri"/>
              </a:rPr>
              <a:t>perfiles duplicados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417320"/>
            <a:ext cx="205740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1563624"/>
            <a:ext cx="20574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59" y="2029968"/>
            <a:ext cx="1874519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duplicados de CustomerID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13432"/>
            <a:ext cx="1783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40" b="0" i="0">
                <a:solidFill>
                  <a:srgbClr val="6A7A82"/>
                </a:solidFill>
                <a:latin typeface="Calibri"/>
              </a:rPr>
              <a:t>identificador integro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1417320"/>
            <a:ext cx="2011680" cy="987552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0E7C86"/>
                </a:solidFill>
                <a:latin typeface="Trebuchet M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020824"/>
            <a:ext cx="164592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19" b="0" i="0">
                <a:solidFill>
                  <a:srgbClr val="FFFFFF"/>
                </a:solidFill>
                <a:latin typeface="Calibri"/>
              </a:rPr>
              <a:t>variables numericas
con valores faltantes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1417320"/>
            <a:ext cx="167335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04120" y="1600200"/>
            <a:ext cx="1417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E7C86"/>
                </a:solidFill>
                <a:latin typeface="Trebuchet MS"/>
              </a:rPr>
              <a:t>Dentro del 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6688" y="1901952"/>
            <a:ext cx="1444752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A7A82"/>
                </a:solidFill>
                <a:latin typeface="Calibri"/>
              </a:rPr>
              <a:t>imputacion y escalado
se ajustan solo con 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697480"/>
            <a:ext cx="110916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834640"/>
            <a:ext cx="4572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70" b="1" i="0">
                <a:solidFill>
                  <a:srgbClr val="1F2D34"/>
                </a:solidFill>
                <a:latin typeface="Trebuchet MS"/>
              </a:rPr>
              <a:t>Categorias semanticamente equivalentes detectadas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46120"/>
            <a:ext cx="5029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3246120"/>
            <a:ext cx="137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3246120"/>
            <a:ext cx="1280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Mobile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246120"/>
            <a:ext cx="5029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COD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9352" y="3246120"/>
            <a:ext cx="137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3246120"/>
            <a:ext cx="1280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Cash on Delivery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246120"/>
            <a:ext cx="5029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CC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3246120"/>
            <a:ext cx="137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3246120"/>
            <a:ext cx="1280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Credit Card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246120"/>
            <a:ext cx="5029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Mobile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3246120"/>
            <a:ext cx="137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7192" y="3246120"/>
            <a:ext cx="12801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Mobile Phone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48640" y="3977639"/>
          <a:ext cx="6629400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920240"/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Trebuchet MS"/>
                        </a:rPr>
                        <a:t>Variables</a:t>
                      </a:r>
                    </a:p>
                  </a:txBody>
                  <a:tcPr marL="54864" marR="54864" marT="27432" marB="27432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Trebuchet MS"/>
                        </a:rPr>
                        <a:t>Metodo</a:t>
                      </a:r>
                    </a:p>
                  </a:txBody>
                  <a:tcPr marL="54864" marR="54864" marT="27432" marB="27432">
                    <a:solidFill>
                      <a:srgbClr val="0E7C8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WarehouseToHome, CouponUsed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Tenure, HourSpendOnApp, OrderAmountHike,</a:t>
                      </a:r>
                    </a:p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OrderCount, DaySinceLastOrder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KNN Imputer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Categoricas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Moda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7543800" y="3977639"/>
            <a:ext cx="409651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26679" y="4133087"/>
            <a:ext cx="3474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 i="0">
                <a:solidFill>
                  <a:srgbClr val="0E7C86"/>
                </a:solidFill>
                <a:latin typeface="Trebuchet MS"/>
              </a:rPr>
              <a:t>Configuracion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4462272"/>
            <a:ext cx="3675887" cy="8412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0" b="0" i="0">
                <a:solidFill>
                  <a:srgbClr val="1F2D34"/>
                </a:solidFill>
                <a:latin typeface="Calibri"/>
              </a:rPr>
              <a:t>- KNNImputer(n_neighbors=5, weights="distance")
- Estandarizacion previa para modelos sensibles a escala
- KNN vs. imputacion iterativa comparados por MAE simulado
- KNN obtuvo menor MAE en las 5 variables evaluadas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33872"/>
            <a:ext cx="1417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80" b="1" i="0">
                <a:solidFill>
                  <a:srgbClr val="E8833A"/>
                </a:solidFill>
                <a:latin typeface="Trebuchet MS"/>
              </a:rPr>
              <a:t>Regla metodologica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5833872"/>
            <a:ext cx="909828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30" b="0" i="0">
                <a:solidFill>
                  <a:srgbClr val="1F2D34"/>
                </a:solidFill>
                <a:latin typeface="Calibri"/>
              </a:rPr>
              <a:t>La imputacion se ajusta dentro de cada fold; validacion y test no participan del calculo de medianas, vecinos, moda ni escalado.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ANALISIS EXPLORATORIO PARA MODELAR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Hallazgos que influyeron en decisiones tecnicas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3 / 11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3886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75104"/>
            <a:ext cx="100584" cy="100584"/>
          </a:xfrm>
          <a:prstGeom prst="ellipse">
            <a:avLst/>
          </a:prstGeom>
          <a:solidFill>
            <a:srgbClr val="E8833A"/>
          </a:solidFill>
          <a:ln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901952"/>
            <a:ext cx="3081528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Tenure  </a:t>
            </a:r>
            <a:r>
              <a:rPr sz="730">
                <a:solidFill>
                  <a:srgbClr val="6A7A82"/>
                </a:solidFill>
                <a:latin typeface="Calibri"/>
              </a:rPr>
              <a:t>mayor diferencia entre clases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505456"/>
            <a:ext cx="100584" cy="100584"/>
          </a:xfrm>
          <a:prstGeom prst="ellipse">
            <a:avLst/>
          </a:prstGeom>
          <a:solidFill>
            <a:srgbClr val="E8833A"/>
          </a:solidFill>
          <a:ln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32304"/>
            <a:ext cx="3081528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Complain  </a:t>
            </a:r>
            <a:r>
              <a:rPr sz="730">
                <a:solidFill>
                  <a:srgbClr val="6A7A82"/>
                </a:solidFill>
                <a:latin typeface="Calibri"/>
              </a:rPr>
              <a:t>fuerte asociacion, temporalidad no confirmada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35808"/>
            <a:ext cx="100584" cy="100584"/>
          </a:xfrm>
          <a:prstGeom prst="ellipse">
            <a:avLst/>
          </a:prstGeom>
          <a:solidFill>
            <a:srgbClr val="E8833A"/>
          </a:solidFill>
          <a:ln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962656"/>
            <a:ext cx="3081528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DaySinceLastOrder  </a:t>
            </a:r>
            <a:r>
              <a:rPr sz="730">
                <a:solidFill>
                  <a:srgbClr val="6A7A82"/>
                </a:solidFill>
                <a:latin typeface="Calibri"/>
              </a:rPr>
              <a:t>relacion contraintuitiva, riesgo temporal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566160"/>
            <a:ext cx="100584" cy="100584"/>
          </a:xfrm>
          <a:prstGeom prst="ellipse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493008"/>
            <a:ext cx="3081528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CashbackAmount  </a:t>
            </a:r>
            <a:r>
              <a:rPr sz="730">
                <a:solidFill>
                  <a:srgbClr val="6A7A82"/>
                </a:solidFill>
                <a:latin typeface="Calibri"/>
              </a:rPr>
              <a:t>asociacion relevante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096512"/>
            <a:ext cx="100584" cy="100584"/>
          </a:xfrm>
          <a:prstGeom prst="ellipse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3081528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1">
                <a:solidFill>
                  <a:srgbClr val="1F2D34"/>
                </a:solidFill>
                <a:latin typeface="Calibri"/>
              </a:rPr>
              <a:t>Categoricas  </a:t>
            </a:r>
            <a:r>
              <a:rPr sz="730">
                <a:solidFill>
                  <a:srgbClr val="6A7A82"/>
                </a:solidFill>
                <a:latin typeface="Calibri"/>
              </a:rPr>
              <a:t>diferencias entre segmentos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13248"/>
            <a:ext cx="3886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60" b="0" i="1">
                <a:solidFill>
                  <a:srgbClr val="0E7C86"/>
                </a:solidFill>
                <a:latin typeface="Calibri"/>
              </a:rPr>
              <a:t>Metodos: Mann-Whitney U / Chi-cuadrado / Rank-biserial / Cramer's V</a:t>
            </a:r>
          </a:p>
        </p:txBody>
      </p:sp>
      <p:pic>
        <p:nvPicPr>
          <p:cNvPr id="20" name="Picture 19" descr="h1_ten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0973" y="1508760"/>
            <a:ext cx="5040092" cy="2029968"/>
          </a:xfrm>
          <a:prstGeom prst="rect">
            <a:avLst/>
          </a:prstGeom>
        </p:spPr>
      </p:pic>
      <p:pic>
        <p:nvPicPr>
          <p:cNvPr id="21" name="Picture 20" descr="h2_compla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94199" y="3767328"/>
            <a:ext cx="5333641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AGRUPADO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StratifiedGroupKFold sin perfiles compartidos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4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173736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8745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StratifiedGroupKFold(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n_splits=5,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shuffle=True,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random_state=42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86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Definicion del grupo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todas las variables explicativas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CustomerID ni Churn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2395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17904"/>
                <a:gridCol w="152704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Conjunto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Filas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Churn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400800" y="3291840"/>
            <a:ext cx="523951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0" y="3291840"/>
            <a:ext cx="5239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6000" dirty="0"/>
          </a:p>
        </p:txBody>
      </p:sp>
      <p:sp>
        <p:nvSpPr>
          <p:cNvPr id="16" name="Text 13"/>
          <p:cNvSpPr/>
          <p:nvPr/>
        </p:nvSpPr>
        <p:spPr>
          <a:xfrm>
            <a:off x="6400800" y="429768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compartidos entre train y test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4590288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no se usa para elegir modelo, features ni umbral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Tres variables de intensidad, deterministas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5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OrdersPerTenure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OrderCount / (Tenure + 1)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CashbackPerOrder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8848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CashbackAmount / (OrderCount + 1)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0456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CouponsPerOrder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0456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CouponUsed / (OrderCount + 1)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16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3474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Justificacion tecnica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 intensidad, no solo magnitud absoluta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+1 evita divisiones por cero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deterministas, no usan el target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generan por separado en train y test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incluyen antes del ColumnTransformer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 conserva importancia en el modelo final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MODELOS E HIPERPARAMETROS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 piso Dummy al ensamble Random Forest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6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Dummy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most_frequent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55848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84448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Regresion logistica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84448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 = 2000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91656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Arbol de decision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 = 20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70264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970264" y="1783080"/>
            <a:ext cx="91440" cy="233172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98864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98864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476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16 · max_features = 0.5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max_samples = 0.7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{0:1, 1:5}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091672" cy="77724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2960" y="4251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  </a:t>
            </a:r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 ajusto con RandomizedSearchCV sobre los mismos folds agrupados optimizando F2 (de ahi valores como n_estimators=476).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METRICAS DE EVALUACION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F2 prioriza recall sobre precision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7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78308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7830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262432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0" y="262432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46557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F-beta (β=2)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346557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(1+β²)·P·R / (β²·P + R)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β=2, recall pesa 4× la precision dentro de la formula.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1783080"/>
            <a:ext cx="523951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Matriz de confusion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FN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FP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solidFill>
            <a:srgbClr val="9FB3B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TN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Complementarias: F1 · PR-AUC · ROC-AUC · cantidad de alertas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SENSIBILIDAD TEMPORAL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con y sin variables de riesgo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8 / 11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49808"/>
                <a:gridCol w="749808"/>
                <a:gridCol w="841248"/>
                <a:gridCol w="713232"/>
                <a:gridCol w="64922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Escenario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Complain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DaySinceLastOrder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ambas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temporal_sensitivity_f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8834" y="1737360"/>
            <a:ext cx="4517724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 </a:t>
            </a:r>
            <a:pPr indent="0" marL="0">
              <a:buNone/>
            </a:pPr>
            <a:r>
              <a:rPr lang="en-US" sz="11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Complain y DaySinceLastOrder por temporalidad no garantizada. Medido sobre RF por ser el modelo mas reactivo a ambas.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COMPARACION DE MODELOS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Fuera de fold, umbral 0,50, escenario conservador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9 / 11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49808"/>
                <a:gridCol w="749808"/>
                <a:gridCol w="841248"/>
                <a:gridCol w="713232"/>
                <a:gridCol w="64922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Modelo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A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Regresion logistica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Arbol de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final_model_comparison_c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0061" y="1737360"/>
            <a:ext cx="4275270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sx="100000" sy="100000" kx="0" ky="0" algn="bl" rotWithShape="0" blurRad="114300" dist="38100" dir="5400000">
              <a:srgbClr val="0E2A38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   </a:t>
            </a:r>
            <a:pPr indent="0" marL="0">
              <a:buNone/>
            </a:pPr>
            <a:r>
              <a:rPr lang="en-US" sz="11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Regresion logistica balanceada. Criterio primario F2, secundario recall. RF gana en precision y ranking, pero detecta menos churns.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DE UMBRAL Y TEST FINAL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Umbral elegido OOF, congelado antes de test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10 / 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fuera de fold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68680"/>
                <a:gridCol w="960120"/>
                <a:gridCol w="1097280"/>
                <a:gridCol w="9144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Umbral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Contactos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final en test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4300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8212" y="1417320"/>
            <a:ext cx="4882896" cy="4069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5504688"/>
            <a:ext cx="4892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 i="0">
                <a:solidFill>
                  <a:srgbClr val="0E7C86"/>
                </a:solidFill>
                <a:latin typeface="Trebuchet MS"/>
              </a:rPr>
              <a:t>Matriz de confusion en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751576"/>
            <a:ext cx="4892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50" b="0" i="0">
                <a:solidFill>
                  <a:srgbClr val="6A7A82"/>
                </a:solidFill>
                <a:latin typeface="Calibri"/>
              </a:rPr>
              <a:t>154 TP / 30 FN / 268 FP / 664 TN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INTERPRETABILIDAD Y LIMITACIONES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700" b="1">
                <a:solidFill>
                  <a:srgbClr val="1F2D34"/>
                </a:solidFill>
                <a:latin typeface="Trebuchet MS"/>
              </a:rPr>
              <a:t>Importancia de variables: Permutation + SHAP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11 / 11</a:t>
            </a:r>
            <a:endParaRPr lang="en-US" sz="900" dirty="0"/>
          </a:p>
        </p:txBody>
      </p:sp>
      <p:pic>
        <p:nvPicPr>
          <p:cNvPr id="8" name="Picture 7" descr="final_interpretability_comb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763537"/>
            <a:ext cx="7543800" cy="392528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002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773936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 i="0">
                <a:solidFill>
                  <a:srgbClr val="0E7C86"/>
                </a:solidFill>
                <a:latin typeface="Trebuchet MS"/>
              </a:rPr>
              <a:t>Lectura tecnica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2176272"/>
            <a:ext cx="2898648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0" i="0">
                <a:solidFill>
                  <a:srgbClr val="1F2D34"/>
                </a:solidFill>
                <a:latin typeface="Calibri"/>
              </a:rPr>
              <a:t>- Tenure aparece en ambos metodos.
- Cashback y categoria preferida
  sostienen poder explicativo.
- OrdersPerTenure valida el
  feature engineering.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703320"/>
            <a:ext cx="34290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3877056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 i="0">
                <a:solidFill>
                  <a:srgbClr val="E8833A"/>
                </a:solidFill>
                <a:latin typeface="Trebuchet MS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4279392"/>
            <a:ext cx="2898648" cy="960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19" b="0" i="0">
                <a:solidFill>
                  <a:srgbClr val="1F2D34"/>
                </a:solidFill>
                <a:latin typeface="Calibri"/>
              </a:rPr>
              <a:t>- Dataset observacional
- Temporalidad incompleta
- Precision final 36,5%
- Importancia no implica
  causalidad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tecnicas clave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972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por grupos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Neutraliza los 556 perfiles duplicados y evita fuga train/test.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836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80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Todo dentro del fold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y preprocesamiento aprenden solo del train de cada fold.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972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972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 conservadora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 y DaySinceLastOrder fuera por temporalidad no garantizada.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5836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836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780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antes de test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780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 umbral 0,41 fijados con F2 y recall como prioridad.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114800"/>
            <a:ext cx="10360152" cy="12344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280160" y="41148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final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Regresion logistica balanceada, umbral 0,41: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el 83,7% de los churns (recall) con F2 = 0,665 en test, sosteniendo lo visto en validacion.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55778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reproducible y honesto sobre sus limitaciones: prioriza no perder clientes en riesgo y deja la calibracion economica a la presentacion de negocios.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de clasificacion de churn</dc:title>
  <dc:subject>PptxGenJS Presentation</dc:subject>
  <dc:creator>Grupo 1</dc:creator>
  <cp:lastModifiedBy>Grupo 1</cp:lastModifiedBy>
  <cp:revision>1</cp:revision>
  <dcterms:created xsi:type="dcterms:W3CDTF">2026-06-16T00:40:39Z</dcterms:created>
  <dcterms:modified xsi:type="dcterms:W3CDTF">2026-06-16T00:40:39Z</dcterms:modified>
</cp:coreProperties>
</file>
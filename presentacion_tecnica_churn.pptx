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A0A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A51-4717-AA30-30489A4FDB61}"/>
              </c:ext>
            </c:extLst>
          </c:dPt>
          <c:dPt>
            <c:idx val="1"/>
            <c:bubble3D val="0"/>
            <c:spPr>
              <a:solidFill>
                <a:srgbClr val="E883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A51-4717-AA30-30489A4FDB61}"/>
              </c:ext>
            </c:extLst>
          </c:dPt>
          <c:cat>
            <c:strRef>
              <c:f>Sheet1!$A$2:$A$3</c:f>
              <c:strCache>
                <c:ptCount val="2"/>
                <c:pt idx="0">
                  <c:v>Churn = 0 (4.682)</c:v>
                </c:pt>
                <c:pt idx="1">
                  <c:v>Churn = 1 (948)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83.2</c:v>
                </c:pt>
                <c:pt idx="1">
                  <c:v>16.8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51-4717-AA30-30489A4FDB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D3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4716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PRESENTACION TECNICA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clasificacion</a:t>
            </a:r>
            <a:endParaRPr lang="en-US" sz="52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churn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clientes en riesgo con validacion agrupada, control de leakage y seleccion reproducible de modelos.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5074920"/>
            <a:ext cx="166420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005840" y="50749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5.630 clientes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98648" y="5074920"/>
            <a:ext cx="1376172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898648" y="5074920"/>
            <a:ext cx="13761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 churn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3420" y="5074920"/>
            <a:ext cx="214426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03420" y="5074920"/>
            <a:ext cx="2144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agrupada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76288" y="5074920"/>
            <a:ext cx="3008376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76288" y="50749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final: Random Forest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ITBA · IA aplicada a negocios · Grupo 1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Y VARIABLE OBJETIVO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 clientes, target Churn binario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(18 predictoras)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16,8%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churn</a:t>
            </a:r>
            <a:endParaRPr lang="en-US" sz="12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8869680" y="1645920"/>
          <a:ext cx="2926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3200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777240" y="3310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variables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10515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continuas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ej. CashbackAmount, Tenure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377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1663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discretas / ordinales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OrderCount, SatisfactionScore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10515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nominales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PreferedOrderCat, MaritalStatus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377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1663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Complain, Gender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50" b="1">
                <a:solidFill>
                  <a:srgbClr val="0E7C86"/>
                </a:solidFill>
                <a:latin typeface="Trebuchet MS"/>
              </a:rPr>
              <a:t>AUDITORIA DE CALIDAD E IMPUTACION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600" b="1">
                <a:solidFill>
                  <a:srgbClr val="1F2D34"/>
                </a:solidFill>
                <a:latin typeface="Trebuchet MS"/>
              </a:rPr>
              <a:t>Nulos, duplicados, categorias equivalentes e imputacion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2 / 11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242316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1.856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224027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algun nulo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13432"/>
            <a:ext cx="21488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exactamente 1 faltante c/u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1563624"/>
            <a:ext cx="242316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556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29968"/>
            <a:ext cx="224027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features identicas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13432"/>
            <a:ext cx="21488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perfiles duplicados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417320"/>
            <a:ext cx="205740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0" y="1563624"/>
            <a:ext cx="205740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59" y="2029968"/>
            <a:ext cx="187451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duplicados de CustomerID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13432"/>
            <a:ext cx="1783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identificador integro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1417320"/>
            <a:ext cx="2011680" cy="987552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500" b="1" i="0">
                <a:solidFill>
                  <a:srgbClr val="0E7C86"/>
                </a:solidFill>
                <a:latin typeface="Trebuchet M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020824"/>
            <a:ext cx="164592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19" b="0" i="0">
                <a:solidFill>
                  <a:srgbClr val="FFFFFF"/>
                </a:solidFill>
                <a:latin typeface="Calibri"/>
              </a:rPr>
              <a:t>variables numericas
con valores faltantes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1417320"/>
            <a:ext cx="1673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04120" y="1600200"/>
            <a:ext cx="1417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b="1" i="0">
                <a:solidFill>
                  <a:srgbClr val="0E7C86"/>
                </a:solidFill>
                <a:latin typeface="Trebuchet MS"/>
              </a:rPr>
              <a:t>Dentro del 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6688" y="1901952"/>
            <a:ext cx="1444752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19" b="0" i="0">
                <a:solidFill>
                  <a:srgbClr val="6A7A82"/>
                </a:solidFill>
                <a:latin typeface="Calibri"/>
              </a:rPr>
              <a:t>imputacion y escalado
se ajustan solo con 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697480"/>
            <a:ext cx="11091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834640"/>
            <a:ext cx="4572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70" b="1" i="0">
                <a:solidFill>
                  <a:srgbClr val="1F2D34"/>
                </a:solidFill>
                <a:latin typeface="Trebuchet MS"/>
              </a:rPr>
              <a:t>Categorias semanticamente equivalentes detectadas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935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Cash on Delivery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Credit Card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Mobile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719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48640" y="3977639"/>
          <a:ext cx="6629400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Trebuchet MS"/>
                        </a:rPr>
                        <a:t>Variables</a:t>
                      </a: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Trebuchet MS"/>
                        </a:rPr>
                        <a:t>Metodo</a:t>
                      </a: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WarehouseToHome, CouponUsed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Tenure, HourSpendOnApp, OrderAmountHike,</a:t>
                      </a:r>
                    </a:p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OrderCount, DaySinceLastOrder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KNN Imputer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Categoricas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Moda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7543800" y="3977639"/>
            <a:ext cx="409651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26679" y="4133087"/>
            <a:ext cx="347472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50" b="1" i="0">
                <a:solidFill>
                  <a:srgbClr val="0E7C86"/>
                </a:solidFill>
                <a:latin typeface="Trebuchet MS"/>
              </a:rPr>
              <a:t>Configuracion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4462272"/>
            <a:ext cx="3675887" cy="8412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90" b="0" i="0">
                <a:solidFill>
                  <a:srgbClr val="1F2D34"/>
                </a:solidFill>
                <a:latin typeface="Calibri"/>
              </a:rPr>
              <a:t>- KNNImputer(n_neighbors=5, weights="distance")
- Estandarizacion previa para modelos sensibles a escala
- KNN vs. imputacion iterativa comparados por MAE simulado
- KNN obtuvo menor MAE en las 5 variables evaluadas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833872"/>
            <a:ext cx="1417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80" b="1" i="0">
                <a:solidFill>
                  <a:srgbClr val="E8833A"/>
                </a:solidFill>
                <a:latin typeface="Trebuchet MS"/>
              </a:rPr>
              <a:t>Regla metodologica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5833872"/>
            <a:ext cx="909828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30" b="0" i="0">
                <a:solidFill>
                  <a:srgbClr val="1F2D34"/>
                </a:solidFill>
                <a:latin typeface="Calibri"/>
              </a:rPr>
              <a:t>La imputacion se ajusta dentro de cada fold; validacion y test no participan del calculo de medianas, vecinos, moda ni escalado.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ANALISIS EXPLORATORIO PARA MODELAR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Hallazgos que influyeron en decisiones tecnicas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3 / 11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3886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60" y="1975104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1901952"/>
            <a:ext cx="308152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Tenure  </a:t>
            </a:r>
            <a:r>
              <a:rPr sz="730">
                <a:solidFill>
                  <a:srgbClr val="6A7A82"/>
                </a:solidFill>
                <a:latin typeface="Calibri"/>
              </a:rPr>
              <a:t>mayor diferencia entre clases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505456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2432304"/>
            <a:ext cx="308152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Complain  </a:t>
            </a:r>
            <a:r>
              <a:rPr sz="730">
                <a:solidFill>
                  <a:srgbClr val="6A7A82"/>
                </a:solidFill>
                <a:latin typeface="Calibri"/>
              </a:rPr>
              <a:t>fuerte asociacion, temporalidad no confirmada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35808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2962656"/>
            <a:ext cx="308152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DaySinceLastOrder  </a:t>
            </a:r>
            <a:r>
              <a:rPr sz="730">
                <a:solidFill>
                  <a:srgbClr val="6A7A82"/>
                </a:solidFill>
                <a:latin typeface="Calibri"/>
              </a:rPr>
              <a:t>relacion contraintuitiva, riesgo temporal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566160"/>
            <a:ext cx="100584" cy="100584"/>
          </a:xfrm>
          <a:prstGeom prst="ellipse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" y="3493008"/>
            <a:ext cx="308152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CashbackAmount  </a:t>
            </a:r>
            <a:r>
              <a:rPr sz="730">
                <a:solidFill>
                  <a:srgbClr val="6A7A82"/>
                </a:solidFill>
                <a:latin typeface="Calibri"/>
              </a:rPr>
              <a:t>asociacion relevante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096512"/>
            <a:ext cx="100584" cy="100584"/>
          </a:xfrm>
          <a:prstGeom prst="ellipse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308152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Categoricas  </a:t>
            </a:r>
            <a:r>
              <a:rPr sz="730">
                <a:solidFill>
                  <a:srgbClr val="6A7A82"/>
                </a:solidFill>
                <a:latin typeface="Calibri"/>
              </a:rPr>
              <a:t>diferencias entre segmentos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13248"/>
            <a:ext cx="38862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60" b="0" i="1">
                <a:solidFill>
                  <a:srgbClr val="0E7C86"/>
                </a:solidFill>
                <a:latin typeface="Calibri"/>
              </a:rPr>
              <a:t>Metodos: Mann-Whitney U / Chi-cuadrado / Rank-biserial / Cramer's V</a:t>
            </a:r>
          </a:p>
        </p:txBody>
      </p:sp>
      <p:pic>
        <p:nvPicPr>
          <p:cNvPr id="20" name="Picture 19" descr="h1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973" y="1508760"/>
            <a:ext cx="5040092" cy="2029968"/>
          </a:xfrm>
          <a:prstGeom prst="rect">
            <a:avLst/>
          </a:prstGeom>
        </p:spPr>
      </p:pic>
      <p:pic>
        <p:nvPicPr>
          <p:cNvPr id="21" name="Picture 20" descr="h2_compl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4199" y="3767328"/>
            <a:ext cx="5333641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AGRUPADO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StratifiedGroupKFold sin perfiles compartidos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4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173736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StratifiedGroupKFold(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n_splits=5,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shuffle=True,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random_state=42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86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Definicion del grupo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todas las variables explicativas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CustomerID ni Churn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239512" cy="13716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Conjunto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Filas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Churn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400800" y="3291840"/>
            <a:ext cx="523951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0" y="3291840"/>
            <a:ext cx="5239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6000" dirty="0"/>
          </a:p>
        </p:txBody>
      </p:sp>
      <p:sp>
        <p:nvSpPr>
          <p:cNvPr id="16" name="Text 13"/>
          <p:cNvSpPr/>
          <p:nvPr/>
        </p:nvSpPr>
        <p:spPr>
          <a:xfrm>
            <a:off x="6400800" y="429768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compartidos entre train y test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4590288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usa para elegir modelo, features ni umbral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variables de intensidad, deterministas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5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OrdersPerTenure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 / (Tenure + 1)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9884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CashbackPerOrder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8848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CashbackAmount / (OrderCount + 1)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0456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CouponsPerOrder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0456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CouponUsed / (OrderCount + 1)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16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3474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Justificacion tecnica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intensidad, no solo magnitud absoluta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+1 evita divisiones por cero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deterministas, no usan el target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generan por separado en train y test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incluyen antes del ColumnTransformer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conserva importancia en el modelo final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MODELOS E HIPERPARAMETROS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 piso Dummy al ensamble Random Forest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6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Dummy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most_frequent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355848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584448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Regresion logistica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0.1   class_weight = balanced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 = 2000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391656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Arbol de decision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 = 20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70264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970264" y="1783080"/>
            <a:ext cx="91440" cy="233172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198864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(FINAL)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98864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12   max_features = 0.5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max_samples = 0.7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{0:1, 1:5}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091672" cy="7772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2960" y="4251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  </a:t>
            </a: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modelos se ajustaron con GridSearchCV sobre los mismos folds agrupados optimizando F2 (ver Modelo.ipynb, seccion 12 bis).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METRICAS DE EVALUACION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F2 prioriza recall sobre precision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7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7830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262432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0" y="262432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346557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F-beta (β=2)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46557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(1+β²)·P·R / (β²·P + R)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β=2, recall pesa 4× la precision dentro de la formula.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1783080"/>
            <a:ext cx="523951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Matriz de confusion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FN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solidFill>
            <a:srgbClr val="9FB3B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TN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Complementarias: F1 · PR-AUC · ROC-AUC · cantidad de alertas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SENSIBILIDAD TEMPORAL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con y sin variables de riesgo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8 / 11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072733"/>
              </p:ext>
            </p:extLst>
          </p:nvPr>
        </p:nvGraphicFramePr>
        <p:xfrm>
          <a:off x="548640" y="1828800"/>
          <a:ext cx="5486400" cy="237744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2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Escenario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ambas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temporal_sensitivity_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834" y="1737360"/>
            <a:ext cx="4517724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r>
              <a:rPr lang="en-US" sz="11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Complain y DaySinceLastOrder por temporalidad no garantizada. Medido sobre RF por ser el modelo mas reactivo a ambas.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COMPARACION DE MODELOS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Fuera de fold, modelos tuneados, umbral 0,50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9 / 11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74477"/>
              </p:ext>
            </p:extLst>
          </p:nvPr>
        </p:nvGraphicFramePr>
        <p:xfrm>
          <a:off x="548640" y="1828800"/>
          <a:ext cx="5486400" cy="237744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2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Modelo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kern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Regresion logistica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kern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kern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Arbol de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final_model_comparison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061" y="1737360"/>
            <a:ext cx="4275270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   </a:t>
            </a:r>
            <a:r>
              <a:rPr lang="en-US" sz="11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tuneado. Criterio primario F2 (el mas alto fuera de fold). A igual recall genera la mitad de falsas alertas que la logistica. La logistica queda como baseline interpretable.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DE UMBRAL Y TEST FINAL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Umbral elegido OOF, congelado antes de test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10 / 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fuera de fold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394960" cy="131673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Umbral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Contactos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final en test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394960" cy="19202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1417320"/>
            <a:ext cx="4882896" cy="4069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5504688"/>
            <a:ext cx="48920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50" b="1" i="0">
                <a:solidFill>
                  <a:srgbClr val="0E7C86"/>
                </a:solidFill>
                <a:latin typeface="Trebuchet MS"/>
              </a:rPr>
              <a:t>Matriz de confusion en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751576"/>
            <a:ext cx="48920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0" i="0">
                <a:solidFill>
                  <a:srgbClr val="6A7A82"/>
                </a:solidFill>
                <a:latin typeface="Calibri"/>
              </a:rPr>
              <a:t>173 TP / 17 FN / 126 FP / 810 TN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INTERPRETABILIDAD Y LIMITACIONES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700" b="1">
                <a:solidFill>
                  <a:srgbClr val="1F2D34"/>
                </a:solidFill>
                <a:latin typeface="Trebuchet MS"/>
              </a:rPr>
              <a:t>Importancia de variables: Permutation + SHAP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11 / 11</a:t>
            </a:r>
            <a:endParaRPr lang="en-US" sz="900" dirty="0"/>
          </a:p>
        </p:txBody>
      </p:sp>
      <p:pic>
        <p:nvPicPr>
          <p:cNvPr id="8" name="Picture 7" descr="final_interpretability_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63537"/>
            <a:ext cx="7543800" cy="392528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002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30768" y="1773936"/>
            <a:ext cx="2971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 i="0">
                <a:solidFill>
                  <a:srgbClr val="0E7C86"/>
                </a:solidFill>
                <a:latin typeface="Trebuchet MS"/>
              </a:rPr>
              <a:t>Lectura tecnica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2176272"/>
            <a:ext cx="2898648" cy="10058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Tenure aparece en ambos metodos.
- Cashback y categoria preferida
  sostienen poder explicativo.
- OrdersPerTenure valida el
  feature engineering.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703320"/>
            <a:ext cx="34290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30768" y="3877056"/>
            <a:ext cx="2971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 i="0">
                <a:solidFill>
                  <a:srgbClr val="E8833A"/>
                </a:solidFill>
                <a:latin typeface="Trebuchet MS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4279392"/>
            <a:ext cx="2898648" cy="960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Dataset observacional
- Temporalidad incompleta
- Precision final 57,9%
- Importancia no implica
  causalidad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1440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tecnicas clave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972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por grupos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Neutraliza los 556 perfiles duplicados y evita fuga train/test.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5836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 dentro del fold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y preprocesamiento aprenden solo del train de cada fold.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0972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0972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 conservadora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 y DaySinceLastOrder fuera por temporalidad no garantizada.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5836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836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780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antes de test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780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umbral 0,27 fijados con F2 y recall como prioridad.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114800"/>
            <a:ext cx="10360152" cy="12344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280160" y="41148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 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tuneado, umbral 0,27: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el 91,1% de los churns (recall) con F2 = 0,817 y precision 57,9% en test, reduciendo casi a la mitad las falsas alertas frente a la logistica.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55778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y honesto sobre sus limitaciones: prioriza no perder clientes en riesgo y deja la calibracion economica a la presentacion de negocios.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1217</Words>
  <Application>Microsoft Office PowerPoint</Application>
  <PresentationFormat>Widescreen</PresentationFormat>
  <Paragraphs>314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de clasificacion de churn</dc:title>
  <dc:subject>PptxGenJS Presentation</dc:subject>
  <dc:creator>Grupo 1</dc:creator>
  <cp:lastModifiedBy>Susana Ishida</cp:lastModifiedBy>
  <cp:revision>2</cp:revision>
  <dcterms:created xsi:type="dcterms:W3CDTF">2026-06-16T00:40:39Z</dcterms:created>
  <dcterms:modified xsi:type="dcterms:W3CDTF">2026-06-17T22:05:00Z</dcterms:modified>
</cp:coreProperties>
</file>
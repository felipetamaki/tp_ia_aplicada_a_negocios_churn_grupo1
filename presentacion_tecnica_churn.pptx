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A0AB"/>
              </a:solidFill>
              <a:effectLst/>
            </c:spPr>
          </c:dPt>
          <c:dPt>
            <c:idx val="1"/>
            <c:bubble3D val="0"/>
            <c:spPr>
              <a:solidFill>
                <a:srgbClr val="E8833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Churn = 0 (4.682)</c:v>
                </c:pt>
                <c:pt idx="1">
                  <c:v>Churn = 1 (948)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83.2</c:v>
                </c:pt>
                <c:pt idx="1">
                  <c:v>16.8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D3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PRESENTACION TECNICA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 clasificacion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churn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de clientes en riesgo con validacion agrupada, control de leakage y seleccion reproducible de modelos.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05840" y="5074920"/>
            <a:ext cx="166420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50749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5.630 clientes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98648" y="5074920"/>
            <a:ext cx="1376172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98648" y="5074920"/>
            <a:ext cx="13761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 churn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3420" y="5074920"/>
            <a:ext cx="214426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03420" y="5074920"/>
            <a:ext cx="21442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agrupada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76288" y="5074920"/>
            <a:ext cx="3008376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507492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final: Reg. logistica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ITBA · IA aplicada a negocios · Grupo 1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DEL EXPERIMENTO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Flujo completo del pipeline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7512" y="1856232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856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17830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raw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258568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7512" y="2331720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25856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de calidad y duplicados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2734056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" y="2807208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2807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273405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estratificado por grupos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209544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7512" y="3282696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20954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685032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7512" y="3758184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667512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" y="368503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 dentro del pipeline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1783080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73952" y="1856232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Text 28"/>
          <p:cNvSpPr/>
          <p:nvPr/>
        </p:nvSpPr>
        <p:spPr>
          <a:xfrm>
            <a:off x="6473952" y="1856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17830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cruzada agrupada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355080" y="2258568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73952" y="2331720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225856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 y seleccion de modelos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355080" y="2734056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73952" y="2807208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2807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58000" y="273405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umbral con predicciones OOF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55080" y="3209544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73952" y="3282696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2" name="Text 40"/>
          <p:cNvSpPr/>
          <p:nvPr/>
        </p:nvSpPr>
        <p:spPr>
          <a:xfrm>
            <a:off x="6473952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58000" y="320954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Evaluacion final en test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355080" y="3685032"/>
            <a:ext cx="52852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73952" y="3758184"/>
            <a:ext cx="274320" cy="27432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73952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858000" y="368503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897880" y="27340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C86"/>
                </a:solidFill>
              </a:rPr>
              <a:t>➜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preparacion, seleccion y evaluacion final reduce el leakage y el sobreajuste al conjunto de test.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Y VARIABLE OBJETIVO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 clientes, target Churn binario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(18 predictoras)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16,8%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churn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869680" y="1645920"/>
          <a:ext cx="2926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548640" y="3200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3310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variables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1" name="Text 18"/>
          <p:cNvSpPr/>
          <p:nvPr/>
        </p:nvSpPr>
        <p:spPr>
          <a:xfrm>
            <a:off x="10515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Numericas continuas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ej. CashbackAmount, Tenure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377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Text 20"/>
          <p:cNvSpPr/>
          <p:nvPr/>
        </p:nvSpPr>
        <p:spPr>
          <a:xfrm>
            <a:off x="51663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Numericas discretas / ordinales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OrderCount, SatisfactionScore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229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5" name="Text 22"/>
          <p:cNvSpPr/>
          <p:nvPr/>
        </p:nvSpPr>
        <p:spPr>
          <a:xfrm>
            <a:off x="10515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nominales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PreferedOrderCat, MaritalStatus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377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7" name="Text 24"/>
          <p:cNvSpPr/>
          <p:nvPr/>
        </p:nvSpPr>
        <p:spPr>
          <a:xfrm>
            <a:off x="51663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Complain, Gender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desbalance obliga a usar metricas sensibles a la clase positiva y estrategias de balanceo en los modelos.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AUDITORIA DE CALIDAD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Nulos, duplicados y categorias equivalentes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7432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847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8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1.856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con algun nulo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exactamente 1 faltante c/u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74720" y="1783080"/>
            <a:ext cx="27432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74720" y="1847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8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556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74720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con features identicas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duplicados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0" y="1783080"/>
            <a:ext cx="27432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1847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8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400800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de CustomerID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integro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869680" y="1783080"/>
            <a:ext cx="2770632" cy="146304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869680" y="1847088"/>
            <a:ext cx="2770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869680" y="2487168"/>
            <a:ext cx="2770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numericas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valores faltantes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110916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3520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Categorias semanticamente equivalentes detectadas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3977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pPr indent="0" marL="0">
              <a:buNone/>
            </a:pPr>
            <a:r>
              <a:rPr lang="en-US" sz="12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≡  </a:t>
            </a:r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520440" y="3977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</a:t>
            </a:r>
            <a:pPr indent="0" marL="0">
              <a:buNone/>
            </a:pPr>
            <a:r>
              <a:rPr lang="en-US" sz="12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≡  </a:t>
            </a:r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on Delivery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217920" y="3977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pPr indent="0" marL="0">
              <a:buNone/>
            </a:pPr>
            <a:r>
              <a:rPr lang="en-US" sz="12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≡  </a:t>
            </a:r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915400" y="3977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pPr indent="0" marL="0">
              <a:buNone/>
            </a:pPr>
            <a:r>
              <a:rPr lang="en-US" sz="12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≡  </a:t>
            </a:r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perfiles repetidos deben tratarse como grupos para impedir que una copia quede en train y otra en test.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ESTRATEGIA DE IMPUTACION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Metodo por variable, siempre dentro del fold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4008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Variables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Metodo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WarehouseToHome, CouponUsed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Tenure, HourSpendOnApp, OrderAmountHike,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OrderCount, DaySinceLastOrder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Imputer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223760" y="1783080"/>
            <a:ext cx="441655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06640" y="1874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06640" y="2194560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KNNImputer(n_neighbors=5, weights="distance")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Estandarizacion previa para modelos sensibles a escala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vs. imputacion iterativa comparados por MAE simulado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obtuvo menor MAE en las 5 variables evaluadas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023360"/>
            <a:ext cx="11091672" cy="100584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40233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metodologico   </a:t>
            </a:r>
            <a:pPr indent="0" marL="0">
              <a:buNone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imputacion se ajusta dentro de cada fold: los datos de validacion nunca participan del calculo de medianas, vecinos, moda o escalado.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Imputar antes de dividir o fuera del pipeline produciria leakage de preprocesamiento.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ANALISIS EXPLORATORIO PARA MODELAR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Hallazgos que influyeron en decisiones tecnicas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4937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975104"/>
            <a:ext cx="146304" cy="146304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9202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diferencia entre clases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" y="2560320"/>
            <a:ext cx="146304" cy="146304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50545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fuerte asociacion, temporalidad no confirmada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9808" y="3145536"/>
            <a:ext cx="146304" cy="146304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0906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DaySinceLastOrder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 contraintuitiva, riesgo temporal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49808" y="3730752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6758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CashbackAmount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asociacion relevante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9808" y="4315968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611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entre segmentos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074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Metodos: Mann-Whitney U · Chi-cuadrado · Rank-biserial · Cramer's V</a:t>
            </a:r>
            <a:endParaRPr lang="en-US" sz="1050" dirty="0"/>
          </a:p>
        </p:txBody>
      </p:sp>
      <p:pic>
        <p:nvPicPr>
          <p:cNvPr id="20" name="Image 0" descr="C:\Users\ftamaki\Documents\ITBA\1C2026\IA\TP_IA_aplicada_a_negocios_churn_Grupo1\reports\figures\h1_tenure.png">    </p:cNvPr>
          <p:cNvPicPr>
            <a:picLocks noChangeAspect="1"/>
          </p:cNvPicPr>
          <p:nvPr/>
        </p:nvPicPr>
        <p:blipFill>
          <a:blip r:embed="rId1"/>
          <a:srcRect l="0" r="0" t="-32500" b="-32500"/>
          <a:stretch/>
        </p:blipFill>
        <p:spPr>
          <a:xfrm>
            <a:off x="5760720" y="1783080"/>
            <a:ext cx="5852160" cy="1508760"/>
          </a:xfrm>
          <a:prstGeom prst="rect">
            <a:avLst/>
          </a:prstGeom>
        </p:spPr>
      </p:pic>
      <p:pic>
        <p:nvPicPr>
          <p:cNvPr id="21" name="Image 1" descr="C:\Users\ftamaki\Documents\ITBA\1C2026\IA\TP_IA_aplicada_a_negocios_churn_Grupo1\reports\figures\h2_complain.png">    </p:cNvPr>
          <p:cNvPicPr>
            <a:picLocks noChangeAspect="1"/>
          </p:cNvPicPr>
          <p:nvPr/>
        </p:nvPicPr>
        <p:blipFill>
          <a:blip r:embed="rId2"/>
          <a:srcRect l="0" r="0" t="-32500" b="-32500"/>
          <a:stretch/>
        </p:blipFill>
        <p:spPr>
          <a:xfrm>
            <a:off x="5760720" y="3429000"/>
            <a:ext cx="5852160" cy="150876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3" name="Text 19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EDA sirvio para formular variables y detectar riesgos metodologicos, no para seleccionar predictores por p-valor.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AGRUPADO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StratifiedGroupKFold sin perfiles compartidos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173736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8745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StratifiedGroupKFold(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n_splits=5,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shuffle=True,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random_state=42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86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776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Definicion del grupo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114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todas las variables explicativas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 CustomerID ni Churn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2395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17904"/>
                <a:gridCol w="152704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Conjunto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Filas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Churn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400800" y="3291840"/>
            <a:ext cx="523951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00800" y="3291840"/>
            <a:ext cx="5239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6000" dirty="0"/>
          </a:p>
        </p:txBody>
      </p:sp>
      <p:sp>
        <p:nvSpPr>
          <p:cNvPr id="16" name="Text 13"/>
          <p:cNvSpPr/>
          <p:nvPr/>
        </p:nvSpPr>
        <p:spPr>
          <a:xfrm>
            <a:off x="6400800" y="4297680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compartidos entre train y test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0" y="4590288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no se usa para elegir modelo, features ni umbral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estratificacion mantiene la clase; el agrupamiento evita evaluar sobre perfiles equivalentes a los entrenados.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Tres variables de intensidad, deterministas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OrdersPerTenure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OrderCount / (Tenure + 1)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98848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CashbackPerOrder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98848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CashbackAmount / (OrderCount + 1)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91856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0456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CouponsPerOrder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0456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CouponUsed / (OrderCount + 1)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16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474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Justificacion tecnica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 intensidad, no solo magnitud absoluta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+1 evita divisiones por cero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deterministas, no usan el target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generan por separado en train y test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incluyen antes del ColumnTransformer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OrdersPerTenure conserva importancia en el modelo final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OrdersPerTenure conserva importancia en el modelo final segun permutacion y SHAP.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 PREPROCESAMIENTO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Tres ramas integradas con ColumnTransformer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49300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783080"/>
            <a:ext cx="3493008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Numericas KNN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F5F8F9"/>
          </a:solidFill>
          <a:ln w="12700">
            <a:solidFill>
              <a:srgbClr val="DCE6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468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KNNImputer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29443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86"/>
                </a:solidFill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15468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F5F8F9"/>
          </a:solidFill>
          <a:ln w="12700">
            <a:solidFill>
              <a:srgbClr val="DCE6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 (solo regresion)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70248" y="1783080"/>
            <a:ext cx="349300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70248" y="1783080"/>
            <a:ext cx="3493008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4453128" y="1783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Numericas mediana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498848" y="246888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F5F8F9"/>
          </a:solidFill>
          <a:ln w="12700">
            <a:solidFill>
              <a:srgbClr val="DCE6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0288" y="2468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SimpleImputer(median)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498848" y="29443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86"/>
                </a:solidFill>
              </a:rPr>
              <a:t>↓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98848" y="315468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F5F8F9"/>
          </a:solidFill>
          <a:ln w="12700">
            <a:solidFill>
              <a:srgbClr val="DCE6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0288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 (solo regresion)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91856" y="1783080"/>
            <a:ext cx="349300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991856" y="1783080"/>
            <a:ext cx="3493008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1783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Categoricas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220456" y="246888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F5F8F9"/>
          </a:solidFill>
          <a:ln w="12700">
            <a:solidFill>
              <a:srgbClr val="DCE6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2468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SimpleImputer(most_frequent)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29443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86"/>
                </a:solidFill>
              </a:rPr>
              <a:t>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20456" y="315468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F5F8F9"/>
          </a:solidFill>
          <a:ln w="12700">
            <a:solidFill>
              <a:srgbClr val="DCE6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11896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OneHotEncoder(handle_unknown=ignore)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206240"/>
            <a:ext cx="11091672" cy="82296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por modelo   </a:t>
            </a:r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Regresion logistica: numericas escaladas. Arbol y Random Forest: sin escalado. Todos: imputacion y one-hot dentro del fold.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garantiza que cada fold aprenda sus propios parametros de transformacion.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MODELOS E HIPERPARAMETROS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 piso Dummy al ensamble Random Forest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Dummy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most_frequent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55848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Regresion logistica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84448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 = 2000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63056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6391656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Arbol de decision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min_samples_leaf = 20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70264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970264" y="1783080"/>
            <a:ext cx="91440" cy="233172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98864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476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16 · max_features = 0.5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max_samples = 0.7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{0:1, 1:5}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091672" cy="77724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251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  </a:t>
            </a:r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 ajusto con RandomizedSearchCV sobre los mismos folds agrupados optimizando F2 (de ahi valores como n_estimators=476).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fija el piso; la regresion aporta interpretabilidad; el arbol capta no linealidad; Random Forest reduce varianza por ensamble.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METRICAS DE EVALUACION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F2 prioriza recall sobre precision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78308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7830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262432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0" y="262432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46557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F-beta (β=2)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346557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(1+β²)·P·R / (β²·P + R)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β=2, recall pesa 4× la precision dentro de la formula.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1783080"/>
            <a:ext cx="523951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Matriz de confusion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TP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FN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FP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solidFill>
            <a:srgbClr val="9FB3BB"/>
          </a:solidFill>
          <a:ln/>
        </p:spPr>
      </p:sp>
      <p:sp>
        <p:nvSpPr>
          <p:cNvPr id="27" name="Text 25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TN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Complementarias: F1 · PR-AUC · ROC-AUC · cantidad de alertas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es especialmente informativa con 16,8% de positivos; ROC-AUC se reporta como capacidad global de ranking.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SENSIBILIDAD TEMPORAL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con y sin variables de riesgo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49808"/>
                <a:gridCol w="749808"/>
                <a:gridCol w="841248"/>
                <a:gridCol w="713232"/>
                <a:gridCol w="649224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Escenario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Complain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DaySinceLastOrder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ambas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temporal_sensitivity_f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8834" y="1737360"/>
            <a:ext cx="4517724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 </a:t>
            </a:r>
            <a:pPr indent="0" marL="0">
              <a:buNone/>
            </a:pPr>
            <a:r>
              <a:rPr lang="en-US" sz="11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Complain y DaySinceLastOrder por temporalidad no garantizada. Medido sobre RF por ser el modelo mas reactivo a ambas.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3" name="Text 9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acepta una caida de performance para evitar leakage temporal y mantener validez en produccion.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COMPARACION DE MODELOS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Fuera de fold, umbral 0,50, escenario conservador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49808"/>
                <a:gridCol w="749808"/>
                <a:gridCol w="841248"/>
                <a:gridCol w="713232"/>
                <a:gridCol w="649224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Modelo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A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Dummy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Regresion logistica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Arbol de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final_model_comparison_c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0061" y="1737360"/>
            <a:ext cx="4275270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   </a:t>
            </a:r>
            <a:pPr indent="0" marL="0">
              <a:buNone/>
            </a:pPr>
            <a:r>
              <a:rPr lang="en-US" sz="11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Regresion logistica balanceada. Criterio primario F2, secundario recall. RF gana en precision y ranking, pero detecta menos churns.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3" name="Text 9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seleccion responde al criterio definido antes de observar el conjunto de test.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DE UMBRAL Y TEST FINAL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Umbral elegido OOF, congelado antes de test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fuera de fold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68680"/>
                <a:gridCol w="960120"/>
                <a:gridCol w="1097280"/>
                <a:gridCol w="9144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Umbral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Contactos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final en test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4300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C:\Users\ftamaki\Documents\ITBA\1C2026\IA\TP_IA_aplicada_a_negocios_churn_Grupo1\reports\figures\final_test_confusion_matrix.png">    </p:cNvPr>
          <p:cNvPicPr>
            <a:picLocks noChangeAspect="1"/>
          </p:cNvPicPr>
          <p:nvPr/>
        </p:nvPicPr>
        <p:blipFill>
          <a:blip r:embed="rId1"/>
          <a:srcRect l="0" r="0" t="-100000" b="-100000"/>
          <a:stretch/>
        </p:blipFill>
        <p:spPr>
          <a:xfrm>
            <a:off x="6492240" y="1691640"/>
            <a:ext cx="3108960" cy="2743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692640" y="1783080"/>
            <a:ext cx="1947672" cy="27432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9692640" y="219456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83,7%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9692640" y="288036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en test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9692640" y="3291840"/>
            <a:ext cx="1947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TP · 30 FN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F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FP · 664 TN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580644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8" name="Text 13"/>
          <p:cNvSpPr/>
          <p:nvPr/>
        </p:nvSpPr>
        <p:spPr>
          <a:xfrm>
            <a:off x="777240" y="580644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validacion y test no cambia la seleccion: el modelo mantiene recall superior al 80%.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INTERPRETABILIDAD Y LIMITACIONES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Permutacion y SHAP coinciden en los drivers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pic>
        <p:nvPicPr>
          <p:cNvPr id="8" name="Image 0" descr="C:\Users\ftamaki\Documents\ITBA\1C2026\IA\TP_IA_aplicada_a_negocios_churn_Grupo1\reports\figures\final_feature_importance.png">    </p:cNvPr>
          <p:cNvPicPr>
            <a:picLocks noChangeAspect="1"/>
          </p:cNvPicPr>
          <p:nvPr/>
        </p:nvPicPr>
        <p:blipFill>
          <a:blip r:embed="rId1"/>
          <a:srcRect l="0" r="0" t="-75000" b="-75000"/>
          <a:stretch/>
        </p:blipFill>
        <p:spPr>
          <a:xfrm>
            <a:off x="548640" y="1737360"/>
            <a:ext cx="3657600" cy="2286000"/>
          </a:xfrm>
          <a:prstGeom prst="rect">
            <a:avLst/>
          </a:prstGeom>
        </p:spPr>
      </p:pic>
      <p:pic>
        <p:nvPicPr>
          <p:cNvPr id="9" name="Image 1" descr="C:\Users\ftamaki\Documents\ITBA\1C2026\IA\TP_IA_aplicada_a_negocios_churn_Grupo1\reports\figures\final_shap_global.png">    </p:cNvPr>
          <p:cNvPicPr>
            <a:picLocks noChangeAspect="1"/>
          </p:cNvPicPr>
          <p:nvPr/>
        </p:nvPicPr>
        <p:blipFill>
          <a:blip r:embed="rId2"/>
          <a:srcRect l="0" r="0" t="-75000" b="-75000"/>
          <a:stretch/>
        </p:blipFill>
        <p:spPr>
          <a:xfrm>
            <a:off x="4389120" y="1737360"/>
            <a:ext cx="3657600" cy="2286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0" y="1737360"/>
            <a:ext cx="341071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41248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variables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458200" y="2148840"/>
            <a:ext cx="3108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CashbackAmount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PreferedOrderCat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OrdersPerTenure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SatisfactionScore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160520"/>
            <a:ext cx="11091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77240" y="4224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Limitaciones tecnicas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2296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observacional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48056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Temporalidad incompleta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13816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duplicados en la fuente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822960" y="48188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final 36,5%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480560" y="48188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monitoreo ante drift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8138160" y="48188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SHAP/importancia ≠ causalidad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48640" y="5943600"/>
            <a:ext cx="82296" cy="56692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2" name="Text 18"/>
          <p:cNvSpPr/>
          <p:nvPr/>
        </p:nvSpPr>
        <p:spPr>
          <a:xfrm>
            <a:off x="777240" y="5943600"/>
            <a:ext cx="10865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tecnico   </a:t>
            </a:r>
            <a:pPr indent="0" marL="0">
              <a:buNone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final es reproducible y conservador, pero debe monitorearse y recalibrarse en produccion.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tecnicas clave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916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por grupos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Neutraliza los 556 perfiles duplicados y evita fuga train/test.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780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Todo dentro del fold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y preprocesamiento aprenden solo del train de cada fold.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 conservadora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 y DaySinceLastOrder fuera por temporalidad no garantizada.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780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antes de test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780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 umbral 0,41 fijados con F2 y recall como prioridad.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114800"/>
            <a:ext cx="10360152" cy="12344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160" y="41148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final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Regresion logistica balanceada, umbral 0,41: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el 83,7% de los churns (recall) con F2 = 0,665 en test, sosteniendo lo visto en validacion.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557784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reproducible y honesto sobre sus limitaciones: prioriza no perder clientes en riesgo y deja la calibracion economica a la presentacion de negocios.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de clasificacion de churn</dc:title>
  <dc:subject>PptxGenJS Presentation</dc:subject>
  <dc:creator>Grupo 1</dc:creator>
  <cp:lastModifiedBy>Grupo 1</cp:lastModifiedBy>
  <cp:revision>1</cp:revision>
  <dcterms:created xsi:type="dcterms:W3CDTF">2026-06-16T00:40:39Z</dcterms:created>
  <dcterms:modified xsi:type="dcterms:W3CDTF">2026-06-16T00:40:39Z</dcterms:modified>
</cp:coreProperties>
</file>
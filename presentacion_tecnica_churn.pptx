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37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A0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A51-4717-AA30-30489A4FDB61}"/>
              </c:ext>
            </c:extLst>
          </c:dPt>
          <c:dPt>
            <c:idx val="1"/>
            <c:bubble3D val="0"/>
            <c:spPr>
              <a:solidFill>
                <a:srgbClr val="E88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51-4717-AA30-30489A4FDB61}"/>
              </c:ext>
            </c:extLst>
          </c:dPt>
          <c:cat>
            <c:strRef>
              <c:f>Sheet1!$A$2:$A$3</c:f>
              <c:strCache>
                <c:ptCount val="2"/>
                <c:pt idx="0">
                  <c:v>Churn = 0 (4.682)</c:v>
                </c:pt>
                <c:pt idx="1">
                  <c:v>Churn = 1 (948)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83.2</c:v>
                </c:pt>
                <c:pt idx="1">
                  <c:v>16.8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51-4717-AA30-30489A4FDB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D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71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AA0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PRESENTACION TECNICA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clasificacion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churn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388620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de clientes en riesgo con validacion agrupada, control de leakage y seleccion reproducible de modelos.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07492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10394B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50749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5.630 clientes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98648" y="5074920"/>
            <a:ext cx="1376172" cy="457200"/>
          </a:xfrm>
          <a:prstGeom prst="roundRect">
            <a:avLst>
              <a:gd name="adj" fmla="val 50000"/>
            </a:avLst>
          </a:prstGeom>
          <a:solidFill>
            <a:srgbClr val="10394B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898648" y="5074920"/>
            <a:ext cx="1376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16,8% churn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3420" y="5074920"/>
            <a:ext cx="2144268" cy="457200"/>
          </a:xfrm>
          <a:prstGeom prst="roundRect">
            <a:avLst>
              <a:gd name="adj" fmla="val 50000"/>
            </a:avLst>
          </a:prstGeom>
          <a:solidFill>
            <a:srgbClr val="10394B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03420" y="5074920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agrupada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76288" y="507492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0394B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76288" y="50749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final: Random Forest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ITBA · IA aplicada a negocios · Grupo 1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Trebuchet MS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Y VARIABLE OBJETIVO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5.630 clientes, target Churn binario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1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5.630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783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00" b="0">
                <a:solidFill>
                  <a:srgbClr val="6A7A82"/>
                </a:solidFill>
                <a:latin typeface="Calibri"/>
              </a:rPr>
              <a:t>columnas totales</a:t>
            </a:r>
            <a:endParaRPr lang="en-US" sz="1200" dirty="0"/>
          </a:p>
          <a:p>
            <a:pPr algn="ctr"/>
            <a:r>
              <a:rPr sz="1050" b="0">
                <a:solidFill>
                  <a:srgbClr val="6A7A82"/>
                </a:solidFill>
                <a:latin typeface="Calibri"/>
              </a:rPr>
              <a:t>18 explicativas + ID + target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16,8%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churn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8869680" y="1645920"/>
          <a:ext cx="29260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320040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7724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variables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3749040"/>
            <a:ext cx="109728" cy="3657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05156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F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r>
              <a:rPr lang="en-US" sz="1200" b="1" dirty="0">
                <a:solidFill>
                  <a:srgbClr val="1F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continuas  </a:t>
            </a:r>
            <a:r>
              <a:rPr lang="en-US" sz="105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ej. CashbackAmount, Tenure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937760" y="3749040"/>
            <a:ext cx="109728" cy="3657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16636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F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r>
              <a:rPr lang="en-US" sz="1200" b="1" dirty="0">
                <a:solidFill>
                  <a:srgbClr val="1F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discretas / ordinales  </a:t>
            </a:r>
            <a:r>
              <a:rPr lang="en-US" sz="105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OrderCount, SatisfactionScore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" y="4315968"/>
            <a:ext cx="109728" cy="3657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1051560" y="42702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F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r>
              <a:rPr lang="en-US" sz="1200" b="1" dirty="0">
                <a:solidFill>
                  <a:srgbClr val="1F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nominales  </a:t>
            </a:r>
            <a:r>
              <a:rPr lang="en-US" sz="105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PreferedOrderCat, MaritalStatus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37760" y="4315968"/>
            <a:ext cx="109728" cy="3657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5166360" y="42702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Binarias  </a:t>
            </a:r>
            <a:r>
              <a:rPr lang="en-US" sz="105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Complain, Gender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65C2A4B-A6AB-A58B-4423-E08BAA683B9D}"/>
              </a:ext>
            </a:extLst>
          </p:cNvPr>
          <p:cNvSpPr/>
          <p:nvPr/>
        </p:nvSpPr>
        <p:spPr>
          <a:xfrm>
            <a:off x="8054959" y="1426464"/>
            <a:ext cx="1673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Trebuchet MS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 b="1">
                <a:solidFill>
                  <a:srgbClr val="0E7C86"/>
                </a:solidFill>
                <a:latin typeface="Trebuchet MS"/>
              </a:rPr>
              <a:t>AUDITORÍA, IMPUTACIÓN Y OUTLIERS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50" b="1">
                <a:solidFill>
                  <a:srgbClr val="1F2D34"/>
                </a:solidFill>
                <a:latin typeface="Trebuchet MS"/>
              </a:rPr>
              <a:t>Nulos, duplicados, categorías equivalentes, imputación y outliers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2 / 11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423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63624"/>
            <a:ext cx="242316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E8833A"/>
                </a:solidFill>
                <a:latin typeface="Trebuchet MS"/>
              </a:rPr>
              <a:t>1.856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2240279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1F2D34"/>
                </a:solidFill>
                <a:latin typeface="Calibri"/>
              </a:rPr>
              <a:t>filas con exactamente un nulo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9888"/>
            <a:ext cx="2148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40" b="0">
                <a:solidFill>
                  <a:srgbClr val="6A7A82"/>
                </a:solidFill>
                <a:latin typeface="Calibri"/>
              </a:rPr>
              <a:t>1 faltante por fila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417320"/>
            <a:ext cx="2423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563624"/>
            <a:ext cx="242316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E8833A"/>
                </a:solidFill>
                <a:latin typeface="Trebuchet MS"/>
              </a:rPr>
              <a:t>556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29968"/>
            <a:ext cx="2240279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 i="0">
                <a:solidFill>
                  <a:srgbClr val="1F2D34"/>
                </a:solidFill>
                <a:latin typeface="Calibri"/>
              </a:rPr>
              <a:t>filas con features identicas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197917"/>
            <a:ext cx="2148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40" b="0" i="0" dirty="0" err="1">
                <a:solidFill>
                  <a:srgbClr val="6A7A82"/>
                </a:solidFill>
                <a:latin typeface="Calibri"/>
              </a:rPr>
              <a:t>perfiles</a:t>
            </a:r>
            <a:r>
              <a:rPr sz="840" b="0" i="0" dirty="0">
                <a:solidFill>
                  <a:srgbClr val="6A7A82"/>
                </a:solidFill>
                <a:latin typeface="Calibri"/>
              </a:rPr>
              <a:t> </a:t>
            </a:r>
            <a:r>
              <a:rPr sz="840" b="0" i="0" dirty="0" err="1">
                <a:solidFill>
                  <a:srgbClr val="6A7A82"/>
                </a:solidFill>
                <a:latin typeface="Calibri"/>
              </a:rPr>
              <a:t>duplicados</a:t>
            </a:r>
            <a:endParaRPr sz="840" b="0" i="0" dirty="0">
              <a:solidFill>
                <a:srgbClr val="6A7A82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60720" y="1417320"/>
            <a:ext cx="2057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0" y="1563624"/>
            <a:ext cx="205740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E8833A"/>
                </a:solidFill>
                <a:latin typeface="Trebuchet M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029968"/>
            <a:ext cx="1874519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 i="0">
                <a:solidFill>
                  <a:srgbClr val="1F2D34"/>
                </a:solidFill>
                <a:latin typeface="Calibri"/>
              </a:rPr>
              <a:t>duplicados de CustomerID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2199132"/>
            <a:ext cx="17830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40" b="0" i="0" dirty="0" err="1">
                <a:solidFill>
                  <a:srgbClr val="6A7A82"/>
                </a:solidFill>
                <a:latin typeface="Calibri"/>
              </a:rPr>
              <a:t>identificador</a:t>
            </a:r>
            <a:r>
              <a:rPr sz="840" b="0" i="0" dirty="0">
                <a:solidFill>
                  <a:srgbClr val="6A7A82"/>
                </a:solidFill>
                <a:latin typeface="Calibri"/>
              </a:rPr>
              <a:t> </a:t>
            </a:r>
            <a:r>
              <a:rPr sz="840" b="0" i="0" dirty="0" err="1">
                <a:solidFill>
                  <a:srgbClr val="6A7A82"/>
                </a:solidFill>
                <a:latin typeface="Calibri"/>
              </a:rPr>
              <a:t>integro</a:t>
            </a:r>
            <a:endParaRPr sz="840" b="0" i="0" dirty="0">
              <a:solidFill>
                <a:srgbClr val="6A7A82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72922" y="2020824"/>
            <a:ext cx="998671" cy="2828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9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variables </a:t>
            </a:r>
            <a:r>
              <a:rPr sz="919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numericas</a:t>
            </a:r>
            <a:r>
              <a:rPr sz="919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
con </a:t>
            </a:r>
            <a:r>
              <a:rPr sz="919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valores</a:t>
            </a:r>
            <a:r>
              <a:rPr sz="919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 </a:t>
            </a:r>
            <a:r>
              <a:rPr sz="919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faltantes</a:t>
            </a:r>
            <a:endParaRPr sz="919" i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8120" y="1554480"/>
            <a:ext cx="20116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500" b="1" i="0" dirty="0">
                <a:solidFill>
                  <a:srgbClr val="0E7C86"/>
                </a:solidFill>
                <a:latin typeface="Trebuchet MS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1417320"/>
            <a:ext cx="1673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0090404" y="1719072"/>
            <a:ext cx="1417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 i="0" dirty="0" err="1">
                <a:solidFill>
                  <a:srgbClr val="0E7C86"/>
                </a:solidFill>
                <a:latin typeface="Trebuchet MS"/>
              </a:rPr>
              <a:t>Dentro</a:t>
            </a:r>
            <a:r>
              <a:rPr sz="1050" b="1" i="0" dirty="0">
                <a:solidFill>
                  <a:srgbClr val="0E7C86"/>
                </a:solidFill>
                <a:latin typeface="Trebuchet MS"/>
              </a:rPr>
              <a:t> del fold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2478" y="1993392"/>
            <a:ext cx="1053173" cy="2521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AR" sz="819" b="1" i="0" dirty="0">
                <a:solidFill>
                  <a:srgbClr val="6A7A82"/>
                </a:solidFill>
                <a:latin typeface="Calibri"/>
              </a:rPr>
              <a:t>Imputación</a:t>
            </a:r>
            <a:r>
              <a:rPr sz="819" b="1" i="0" dirty="0">
                <a:solidFill>
                  <a:srgbClr val="6A7A82"/>
                </a:solidFill>
                <a:latin typeface="Calibri"/>
              </a:rPr>
              <a:t> y </a:t>
            </a:r>
            <a:r>
              <a:rPr sz="819" b="1" i="0" dirty="0" err="1">
                <a:solidFill>
                  <a:srgbClr val="6A7A82"/>
                </a:solidFill>
                <a:latin typeface="Calibri"/>
              </a:rPr>
              <a:t>escalado</a:t>
            </a:r>
            <a:r>
              <a:rPr sz="819" b="1" i="0" dirty="0">
                <a:solidFill>
                  <a:srgbClr val="6A7A82"/>
                </a:solidFill>
                <a:latin typeface="Calibri"/>
              </a:rPr>
              <a:t>
se </a:t>
            </a:r>
            <a:r>
              <a:rPr sz="819" b="1" i="0" dirty="0" err="1">
                <a:solidFill>
                  <a:srgbClr val="6A7A82"/>
                </a:solidFill>
                <a:latin typeface="Calibri"/>
              </a:rPr>
              <a:t>ajustan</a:t>
            </a:r>
            <a:r>
              <a:rPr sz="819" b="1" i="0" dirty="0">
                <a:solidFill>
                  <a:srgbClr val="6A7A82"/>
                </a:solidFill>
                <a:latin typeface="Calibri"/>
              </a:rPr>
              <a:t> solo con 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97480"/>
            <a:ext cx="11091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834640"/>
            <a:ext cx="3685304" cy="1800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70" b="1" i="0" dirty="0" err="1">
                <a:solidFill>
                  <a:srgbClr val="1F2D34"/>
                </a:solidFill>
                <a:latin typeface="Trebuchet MS"/>
              </a:rPr>
              <a:t>Categor</a:t>
            </a:r>
            <a:r>
              <a:rPr lang="es-AR" sz="1170" b="1" i="0" dirty="0">
                <a:solidFill>
                  <a:srgbClr val="1F2D34"/>
                </a:solidFill>
                <a:latin typeface="Trebuchet MS"/>
              </a:rPr>
              <a:t>í</a:t>
            </a:r>
            <a:r>
              <a:rPr sz="1170" b="1" i="0" dirty="0">
                <a:solidFill>
                  <a:srgbClr val="1F2D34"/>
                </a:solidFill>
                <a:latin typeface="Trebuchet MS"/>
              </a:rPr>
              <a:t>as </a:t>
            </a:r>
            <a:r>
              <a:rPr sz="1170" b="1" i="0" dirty="0" err="1">
                <a:solidFill>
                  <a:srgbClr val="1F2D34"/>
                </a:solidFill>
                <a:latin typeface="Trebuchet MS"/>
              </a:rPr>
              <a:t>semanticamente</a:t>
            </a:r>
            <a:r>
              <a:rPr sz="1170" b="1" i="0" dirty="0">
                <a:solidFill>
                  <a:srgbClr val="1F2D34"/>
                </a:solidFill>
                <a:latin typeface="Trebuchet MS"/>
              </a:rPr>
              <a:t> </a:t>
            </a:r>
            <a:r>
              <a:rPr sz="1170" b="1" i="0" dirty="0" err="1">
                <a:solidFill>
                  <a:srgbClr val="1F2D34"/>
                </a:solidFill>
                <a:latin typeface="Trebuchet MS"/>
              </a:rPr>
              <a:t>equivalentes</a:t>
            </a:r>
            <a:r>
              <a:rPr sz="1170" b="1" i="0" dirty="0">
                <a:solidFill>
                  <a:srgbClr val="1F2D34"/>
                </a:solidFill>
                <a:latin typeface="Trebuchet MS"/>
              </a:rPr>
              <a:t> </a:t>
            </a:r>
            <a:r>
              <a:rPr sz="1170" b="1" i="0" dirty="0" err="1">
                <a:solidFill>
                  <a:srgbClr val="1F2D34"/>
                </a:solidFill>
                <a:latin typeface="Trebuchet MS"/>
              </a:rPr>
              <a:t>detectadas</a:t>
            </a:r>
            <a:endParaRPr sz="1170" b="1" i="0" dirty="0">
              <a:solidFill>
                <a:srgbClr val="1F2D34"/>
              </a:solidFill>
              <a:latin typeface="Trebuchet M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" y="3246120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 i="0">
                <a:solidFill>
                  <a:srgbClr val="E8833A"/>
                </a:solidFill>
                <a:latin typeface="Calibri"/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246120"/>
            <a:ext cx="1371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0" i="0">
                <a:solidFill>
                  <a:srgbClr val="6A7A82"/>
                </a:solidFill>
                <a:latin typeface="Calibri"/>
              </a:rPr>
              <a:t>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3246120"/>
            <a:ext cx="12801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 i="0">
                <a:solidFill>
                  <a:srgbClr val="0E7C86"/>
                </a:solidFill>
                <a:latin typeface="Calibri"/>
              </a:rPr>
              <a:t>Mobile Phone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246120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 i="0">
                <a:solidFill>
                  <a:srgbClr val="E8833A"/>
                </a:solidFill>
                <a:latin typeface="Calibri"/>
              </a:rPr>
              <a:t>COD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9352" y="3246120"/>
            <a:ext cx="1371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0" i="0">
                <a:solidFill>
                  <a:srgbClr val="6A7A82"/>
                </a:solidFill>
                <a:latin typeface="Calibri"/>
              </a:rP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3246120"/>
            <a:ext cx="12801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 i="0">
                <a:solidFill>
                  <a:srgbClr val="0E7C86"/>
                </a:solidFill>
                <a:latin typeface="Calibri"/>
              </a:rPr>
              <a:t>Cash on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246120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 i="0">
                <a:solidFill>
                  <a:srgbClr val="E8833A"/>
                </a:solidFill>
                <a:latin typeface="Calibri"/>
              </a:rPr>
              <a:t>CC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3246120"/>
            <a:ext cx="1371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0" i="0">
                <a:solidFill>
                  <a:srgbClr val="6A7A82"/>
                </a:solidFill>
                <a:latin typeface="Calibri"/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3246120"/>
            <a:ext cx="12801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 i="0">
                <a:solidFill>
                  <a:srgbClr val="0E7C86"/>
                </a:solidFill>
                <a:latin typeface="Calibri"/>
              </a:rPr>
              <a:t>Credit 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246120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 i="0">
                <a:solidFill>
                  <a:srgbClr val="E8833A"/>
                </a:solidFill>
                <a:latin typeface="Calibri"/>
              </a:rPr>
              <a:t>Mobile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3246120"/>
            <a:ext cx="1371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0" i="0">
                <a:solidFill>
                  <a:srgbClr val="6A7A82"/>
                </a:solidFill>
                <a:latin typeface="Calibri"/>
              </a:rPr>
              <a:t>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7192" y="3246120"/>
            <a:ext cx="12801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 i="0">
                <a:solidFill>
                  <a:srgbClr val="0E7C86"/>
                </a:solidFill>
                <a:latin typeface="Calibri"/>
              </a:rPr>
              <a:t>Mobile Phone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977639"/>
            <a:ext cx="1109167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4133087"/>
            <a:ext cx="3685304" cy="176972"/>
          </a:xfrm>
          <a:prstGeom prst="rect">
            <a:avLst/>
          </a:prstGeom>
          <a:noFill/>
        </p:spPr>
        <p:txBody>
          <a:bodyPr wrap="none" tIns="30000" bIns="30000">
            <a:spAutoFit/>
          </a:bodyPr>
          <a:lstStyle/>
          <a:p>
            <a:r>
              <a:rPr sz="1350" b="1">
                <a:solidFill>
                  <a:srgbClr val="0E7C86"/>
                </a:solidFill>
                <a:latin typeface="Trebuchet MS"/>
              </a:rPr>
              <a:t>Imputación y outliers</a:t>
            </a:r>
            <a:endParaRPr sz="790" b="0" i="0" dirty="0">
              <a:solidFill>
                <a:srgbClr val="1F2D34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7240" y="4462272"/>
            <a:ext cx="10177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0000" bIns="30000"/>
          <a:lstStyle/>
          <a:p>
            <a:pPr algn="ctr"/>
            <a:r>
              <a:rPr sz="890" b="1">
                <a:solidFill>
                  <a:srgbClr val="1F2D34"/>
                </a:solidFill>
                <a:latin typeface="Calibri"/>
              </a:rPr>
              <a:t>Mediana - WarehouseToHome, CouponUsed</a:t>
            </a:r>
            <a:endParaRPr/>
          </a:p>
          <a:p>
            <a:r>
              <a:rPr sz="840" b="0">
                <a:solidFill>
                  <a:srgbClr val="1F2D34"/>
                </a:solidFill>
                <a:latin typeface="Calibri"/>
              </a:rPr>
              <a:t>Sin patrón predictivo claro frente al resto de variables</a:t>
            </a:r>
          </a:p>
          <a:p>
            <a:r>
              <a:rPr sz="400" b="0">
                <a:solidFill>
                  <a:srgbClr val="1F2D34"/>
                </a:solidFill>
                <a:latin typeface="Calibri"/>
              </a:rPr>
              <a:t/>
            </a:r>
          </a:p>
          <a:p>
            <a:r>
              <a:rPr sz="850" b="1">
                <a:solidFill>
                  <a:srgbClr val="1F2D34"/>
                </a:solidFill>
                <a:latin typeface="Calibri"/>
              </a:rPr>
              <a:t>KNN (k=5, weights=distance) - Tenure, OrderCount, DaySinceLastOrder, HourSpendOnApp, OrderAmountHike</a:t>
            </a:r>
          </a:p>
          <a:p>
            <a:r>
              <a:rPr sz="840" b="0">
                <a:solidFill>
                  <a:srgbClr val="1F2D34"/>
                </a:solidFill>
                <a:latin typeface="Calibri"/>
              </a:rPr>
              <a:t>Mejor MAE (Mean Absolute Error) frente a Regresión y Mediana</a:t>
            </a:r>
          </a:p>
          <a:p>
            <a:r>
              <a:rPr sz="400" b="0">
                <a:solidFill>
                  <a:srgbClr val="1F2D34"/>
                </a:solidFill>
                <a:latin typeface="Calibri"/>
              </a:rPr>
              <a:t/>
            </a:r>
          </a:p>
          <a:p>
            <a:r>
              <a:rPr sz="890" b="1">
                <a:solidFill>
                  <a:srgbClr val="1F2D34"/>
                </a:solidFill>
                <a:latin typeface="Calibri"/>
              </a:rPr>
              <a:t>Outliers - eliminados solo de gráficos del EDA</a:t>
            </a:r>
          </a:p>
          <a:p>
            <a:r>
              <a:rPr sz="850" b="0">
                <a:solidFill>
                  <a:srgbClr val="1F2D34"/>
                </a:solidFill>
                <a:latin typeface="Calibri"/>
              </a:rPr>
              <a:t>WarehouseToHome: 2 extremos  |  Tenure: 4 extremos  |  DaySinceLastOrder: 1 valor máximo</a:t>
            </a:r>
          </a:p>
          <a:p>
            <a:r>
              <a:rPr sz="840" b="0">
                <a:solidFill>
                  <a:srgbClr val="1F2D34"/>
                </a:solidFill>
                <a:latin typeface="Calibri"/>
              </a:rPr>
              <a:t>No se eliminan del modelado.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33872"/>
            <a:ext cx="14173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80" b="1" i="0">
                <a:solidFill>
                  <a:srgbClr val="E8833A"/>
                </a:solidFill>
                <a:latin typeface="Trebuchet MS"/>
              </a:rPr>
              <a:t>Regla metodologica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5833872"/>
            <a:ext cx="90982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30" b="0">
                <a:solidFill>
                  <a:srgbClr val="1F2D34"/>
                </a:solidFill>
                <a:latin typeface="Calibri"/>
              </a:rPr>
              <a:t>La imputación y el escalado se ajustan dentro de cada fold; validación y test no participan del cálculo.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FFFFFF"/>
                </a:solidFill>
                <a:latin typeface="Trebuchet MS"/>
              </a:rPr>
              <a:t>0</a:t>
            </a:r>
            <a:r>
              <a:rPr lang="es-AR" sz="1800" b="1" dirty="0">
                <a:solidFill>
                  <a:srgbClr val="FFFFFF"/>
                </a:solidFill>
                <a:latin typeface="Trebuchet MS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AGRUPADO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50" b="1">
                <a:solidFill>
                  <a:srgbClr val="1F2D34"/>
                </a:solidFill>
                <a:latin typeface="Trebuchet MS"/>
              </a:rPr>
              <a:t>StratifiedGroupKFold: evaluación más honesta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4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86400" cy="1737360"/>
          </a:xfrm>
          <a:prstGeom prst="rect">
            <a:avLst/>
          </a:prstGeom>
          <a:solidFill>
            <a:srgbClr val="0E2A38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E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StratifiedGroupKFold(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E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n_splits=5,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E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shuffle=True,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E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E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776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0E7C86"/>
                </a:solidFill>
                <a:latin typeface="Trebuchet MS"/>
              </a:rPr>
              <a:t>Cómo definimos el grupo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030" b="1">
                <a:solidFill>
                  <a:srgbClr val="1F2D34"/>
                </a:solidFill>
                <a:latin typeface="Calibri"/>
              </a:rPr>
              <a:t>StratifiedGroupKFold (5 folds, shuffle=True, random_state=42)</a:t>
            </a:r>
            <a:endParaRPr lang="en-US" sz="1250" dirty="0"/>
          </a:p>
          <a:p>
            <a:r>
              <a:rPr sz="1030" b="0">
                <a:solidFill>
                  <a:srgbClr val="1F2D34"/>
                </a:solidFill>
                <a:latin typeface="Calibri"/>
              </a:rPr>
              <a:t>Entrena con 4 folds y valida con 1, manteniendo la proporción de churn.</a:t>
            </a:r>
          </a:p>
          <a:p>
            <a:r>
              <a:rPr sz="1030" b="0">
                <a:solidFill>
                  <a:srgbClr val="1F2D34"/>
                </a:solidFill>
                <a:latin typeface="Calibri"/>
              </a:rPr>
              <a:t>Agrupa perfiles equivalentes: no se repiten entre entrenamiento y validación.</a:t>
            </a:r>
          </a:p>
          <a:p>
            <a:r>
              <a:rPr sz="1030" b="0">
                <a:solidFill>
                  <a:srgbClr val="1F2D34"/>
                </a:solidFill>
                <a:latin typeface="Calibri"/>
              </a:rPr>
              <a:t>No usa CustomerID ni Churn para definir los grupos.</a:t>
            </a:r>
          </a:p>
          <a:p>
            <a:r>
              <a:rPr sz="1030" b="1">
                <a:solidFill>
                  <a:srgbClr val="1F2D34"/>
                </a:solidFill>
                <a:latin typeface="Calibri"/>
              </a:rPr>
              <a:t>El test queda cerrado: solo se usa para medir el resultado final.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83080"/>
          <a:ext cx="5239512" cy="1371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Conjunto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Filas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Churn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0" y="3291840"/>
            <a:ext cx="52395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0" y="3291840"/>
            <a:ext cx="5239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6000" dirty="0"/>
          </a:p>
        </p:txBody>
      </p:sp>
      <p:sp>
        <p:nvSpPr>
          <p:cNvPr id="16" name="Text 13"/>
          <p:cNvSpPr/>
          <p:nvPr/>
        </p:nvSpPr>
        <p:spPr>
          <a:xfrm>
            <a:off x="6400800" y="429768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1F2D34"/>
                </a:solidFill>
                <a:latin typeface="Calibri"/>
              </a:rPr>
              <a:t>perfiles compartidos</a:t>
            </a:r>
            <a:endParaRPr lang="en-US" sz="1300" dirty="0"/>
          </a:p>
          <a:p>
            <a:pPr algn="ctr"/>
            <a:r>
              <a:rPr sz="1300" b="1">
                <a:solidFill>
                  <a:srgbClr val="1F2D34"/>
                </a:solidFill>
                <a:latin typeface="Calibri"/>
              </a:rPr>
              <a:t>entre train y test</a:t>
            </a:r>
          </a:p>
        </p:txBody>
      </p:sp>
      <p:sp>
        <p:nvSpPr>
          <p:cNvPr id="17" name="Text 14"/>
          <p:cNvSpPr/>
          <p:nvPr/>
        </p:nvSpPr>
        <p:spPr>
          <a:xfrm>
            <a:off x="6400800" y="4590288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19" b="1">
                <a:solidFill>
                  <a:srgbClr val="6A7A82"/>
                </a:solidFill>
                <a:latin typeface="Calibri"/>
              </a:rPr>
              <a:t>Test cerrado:</a:t>
            </a:r>
            <a:endParaRPr lang="en-US" sz="1050" dirty="0"/>
          </a:p>
          <a:p>
            <a:pPr algn="ctr"/>
            <a:r>
              <a:rPr sz="1019" b="0">
                <a:solidFill>
                  <a:srgbClr val="6A7A82"/>
                </a:solidFill>
                <a:latin typeface="Calibri"/>
              </a:rPr>
              <a:t>solo mide el resultado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FFFFFF"/>
                </a:solidFill>
                <a:latin typeface="Trebuchet MS"/>
              </a:rPr>
              <a:t>0</a:t>
            </a:r>
            <a:r>
              <a:rPr lang="es-AR" sz="1800" b="1" dirty="0">
                <a:solidFill>
                  <a:srgbClr val="FFFFFF"/>
                </a:solidFill>
                <a:latin typeface="Trebuchet MS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50" b="1">
                <a:solidFill>
                  <a:srgbClr val="1F2D34"/>
                </a:solidFill>
                <a:latin typeface="Trebuchet MS"/>
              </a:rPr>
              <a:t>Tres ratios de intensidad, deterministas y con sentido de negocio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5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493008" cy="1371600"/>
          </a:xfrm>
          <a:prstGeom prst="rect">
            <a:avLst/>
          </a:prstGeom>
          <a:solidFill>
            <a:srgbClr val="0E2A38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A0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OrdersPerTenure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OrderCount / (Tenure + 1)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0248" y="1783080"/>
            <a:ext cx="3493008" cy="1371600"/>
          </a:xfrm>
          <a:prstGeom prst="rect">
            <a:avLst/>
          </a:prstGeom>
          <a:solidFill>
            <a:srgbClr val="0E2A38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98848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A0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CashbackPerOrder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8848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CashbackAmount / (OrderCount + 1)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783080"/>
            <a:ext cx="3493008" cy="1371600"/>
          </a:xfrm>
          <a:prstGeom prst="rect">
            <a:avLst/>
          </a:prstGeom>
          <a:solidFill>
            <a:srgbClr val="0E2A38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0456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A0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CouponsPerOrder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0456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CouponUsed / (OrderCount + 1)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10916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3474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0E7C86"/>
                </a:solidFill>
                <a:latin typeface="Trebuchet MS"/>
              </a:rPr>
              <a:t>Justificación técnica y de negocio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822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sz="1200" b="0">
                <a:solidFill>
                  <a:srgbClr val="1F2D34"/>
                </a:solidFill>
                <a:latin typeface="Calibri"/>
              </a:rPr>
              <a:t>Miden intensidad relativa del cliente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822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sz="1200" b="0">
                <a:solidFill>
                  <a:srgbClr val="1F2D34"/>
                </a:solidFill>
                <a:latin typeface="Calibri"/>
              </a:rPr>
              <a:t>El +1 evita divisiones por cero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sz="1200" b="0">
                <a:solidFill>
                  <a:srgbClr val="1F2D34"/>
                </a:solidFill>
                <a:latin typeface="Calibri"/>
              </a:rPr>
              <a:t>No usan Churn: evitan fuga de información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sz="1200" b="0">
                <a:solidFill>
                  <a:srgbClr val="1F2D34"/>
                </a:solidFill>
                <a:latin typeface="Calibri"/>
              </a:rPr>
              <a:t>Se calculan por separado en train y test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5902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sz="1200" b="0">
                <a:solidFill>
                  <a:srgbClr val="1F2D34"/>
                </a:solidFill>
                <a:latin typeface="Calibri"/>
              </a:rPr>
              <a:t>Se generan antes del preprocesamiento del modelo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45902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sz="1200" b="0">
                <a:solidFill>
                  <a:srgbClr val="1F2D34"/>
                </a:solidFill>
                <a:latin typeface="Calibri"/>
              </a:rPr>
              <a:t>OrdersPerTenure queda entre las variables más importantes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FFFFFF"/>
                </a:solidFill>
                <a:latin typeface="Trebuchet MS"/>
              </a:rPr>
              <a:t>0</a:t>
            </a:r>
            <a:r>
              <a:rPr lang="es-AR" sz="1800" b="1" dirty="0">
                <a:solidFill>
                  <a:srgbClr val="FFFFFF"/>
                </a:solidFill>
                <a:latin typeface="Trebuchet MS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E HIPERPARAMETROS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piso Dummy al ensamble Random Forest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6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91440" cy="2331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Dummy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= most_frequent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178308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355848" y="1783080"/>
            <a:ext cx="91440" cy="2331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84448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Regresion logistica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84448" y="24231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0.1   class_weight = balanced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 = 2000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78308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63056" y="1783080"/>
            <a:ext cx="91440" cy="2331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391656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Arbol de decision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1656" y="24231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 = balanced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 = 20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70264" y="178308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970264" y="1783080"/>
            <a:ext cx="91440" cy="233172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98864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(FINAL)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98864" y="24231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= 300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12   max_features = 0.5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max_samples = 0.7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7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 = {0:1, 1:5}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091672" cy="777240"/>
          </a:xfrm>
          <a:prstGeom prst="rect">
            <a:avLst/>
          </a:prstGeom>
          <a:solidFill>
            <a:srgbClr val="0E2A38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22960" y="4251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  </a:t>
            </a: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modelos se ajustaron con GridSearchCV sobre los mismos folds agrupados optimizando F2 (ver Modelo.ipynb, seccion 12 bis).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FFFFFF"/>
                </a:solidFill>
                <a:latin typeface="Trebuchet MS"/>
              </a:rPr>
              <a:t>0</a:t>
            </a:r>
            <a:r>
              <a:rPr lang="es-AR" sz="1800" b="1" dirty="0">
                <a:solidFill>
                  <a:srgbClr val="FFFFFF"/>
                </a:solidFill>
                <a:latin typeface="Trebuchet MS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METRICAS DE EVALUACION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 prioriza recall sobre precision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7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7830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262432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6243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346557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F-beta (β=2)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34655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(1+β²)·P·R / (β²·P + 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β=2, recall pesa 4× la precision dentro de la formula.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783080"/>
            <a:ext cx="52395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confusion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2331720"/>
            <a:ext cx="2011680" cy="10058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040880" y="2331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35440" y="2331720"/>
            <a:ext cx="2011680" cy="100584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235440" y="2331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040880" y="3474720"/>
            <a:ext cx="2011680" cy="100584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04088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235440" y="3474720"/>
            <a:ext cx="2011680" cy="1005840"/>
          </a:xfrm>
          <a:prstGeom prst="rect">
            <a:avLst/>
          </a:prstGeom>
          <a:solidFill>
            <a:srgbClr val="9FB3B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23544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Complementarias: F1 · PR-AUC · ROC-AUC · cantidad de alertas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FFFFFF"/>
                </a:solidFill>
                <a:latin typeface="Trebuchet MS"/>
              </a:rPr>
              <a:t>0</a:t>
            </a:r>
            <a:r>
              <a:rPr lang="es-AR" sz="1800" b="1" dirty="0">
                <a:solidFill>
                  <a:srgbClr val="FFFFFF"/>
                </a:solidFill>
                <a:latin typeface="Trebuchet MS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SENSIBILIDAD TEMPORAL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con y sin variables de riesgo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8 / 11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072733"/>
              </p:ext>
            </p:extLst>
          </p:nvPr>
        </p:nvGraphicFramePr>
        <p:xfrm>
          <a:off x="548640" y="1828800"/>
          <a:ext cx="5486400" cy="237744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Escenario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F2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Recall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Precision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PR-AUC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ROC-AUC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Complain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DaySinceLastOrder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ambas (final)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0,698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0,707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Image 0" descr="C:\Users\ftamaki\Documents\ITBA\1C2026\IA\TP_IA_aplicada_a_negocios_churn_Grupo1\reports\figures\temporal_sensitivity_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834" y="1737360"/>
            <a:ext cx="4517724" cy="3291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343400"/>
            <a:ext cx="5486400" cy="914400"/>
          </a:xfrm>
          <a:prstGeom prst="rect">
            <a:avLst/>
          </a:prstGeom>
          <a:solidFill>
            <a:srgbClr val="0E2A38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22960" y="43434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 </a:t>
            </a: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Complain y DaySinceLastOrder por temporalidad no garantizada. Medido sobre RF por ser el modelo mas reactivo a ambas.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FFFFFF"/>
                </a:solidFill>
                <a:latin typeface="Trebuchet MS"/>
              </a:rPr>
              <a:t>0</a:t>
            </a:r>
            <a:r>
              <a:rPr lang="es-AR" sz="1800" b="1" dirty="0">
                <a:solidFill>
                  <a:srgbClr val="FFFFFF"/>
                </a:solidFill>
                <a:latin typeface="Trebuchet MS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COMPARACION DE MODELOS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Fuera de fold, modelos tuneados, umbral 0,50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9 / 11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74477"/>
              </p:ext>
            </p:extLst>
          </p:nvPr>
        </p:nvGraphicFramePr>
        <p:xfrm>
          <a:off x="548640" y="1828800"/>
          <a:ext cx="5486400" cy="237744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F2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Recall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Precision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PR-AUC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ROC-AUC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A7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6A7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Regresion logistica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kern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kern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Arbol de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0,698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0,707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Image 0" descr="C:\Users\ftamaki\Documents\ITBA\1C2026\IA\TP_IA_aplicada_a_negocios_churn_Grupo1\reports\figures\final_model_comparison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061" y="1737360"/>
            <a:ext cx="4275270" cy="3291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34340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14300" dist="38100" dir="5400000" algn="bl" rotWithShape="0">
              <a:srgbClr val="0E2A38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22960" y="43434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   </a:t>
            </a:r>
            <a:r>
              <a:rPr lang="en-US" sz="1150" dirty="0">
                <a:solidFill>
                  <a:srgbClr val="1F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tuneado. Criterio primario F2 (el mas alto fuera de fold). A igual recall genera la mitad de falsas alertas que la logistica. La logistica queda como baseline interpretable.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b="1" dirty="0">
                <a:solidFill>
                  <a:srgbClr val="FFFFFF"/>
                </a:solidFill>
                <a:latin typeface="Trebuchet MS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Trebuchet MS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AJUSTE DE UMBRAL Y TEST FINAL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Umbral </a:t>
            </a:r>
            <a:r>
              <a:rPr lang="en-US" sz="2700" b="1" dirty="0" err="1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elegido</a:t>
            </a:r>
            <a:r>
              <a:rPr lang="en-US" sz="2700" b="1" dirty="0">
                <a:solidFill>
                  <a:srgbClr val="1F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0,27, congelado antes de test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10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Ajuste fuera de fold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94960" cy="131673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Umbral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F2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Recall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Precision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Contactos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 (final)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final en test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539496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Valor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Valor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1417320"/>
            <a:ext cx="4882896" cy="40690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63640" y="5504688"/>
            <a:ext cx="48920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 i="0">
                <a:solidFill>
                  <a:srgbClr val="0E7C86"/>
                </a:solidFill>
                <a:latin typeface="Trebuchet MS"/>
              </a:rPr>
              <a:t>Matriz de confusion en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751576"/>
            <a:ext cx="48920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 i="0">
                <a:solidFill>
                  <a:srgbClr val="6A7A82"/>
                </a:solidFill>
                <a:latin typeface="Calibri"/>
              </a:rPr>
              <a:t>173 TP / 17 FN / 126 FP / 810 TN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 dirty="0">
                <a:solidFill>
                  <a:srgbClr val="FFFFFF"/>
                </a:solidFill>
                <a:latin typeface="Trebuchet MS"/>
              </a:rPr>
              <a:t>1</a:t>
            </a:r>
            <a:r>
              <a:rPr lang="es-AR" sz="1800" b="1" dirty="0">
                <a:solidFill>
                  <a:srgbClr val="FFFFFF"/>
                </a:solidFill>
                <a:latin typeface="Trebuchet MS"/>
              </a:rPr>
              <a:t>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INTERPRETABILIDAD Y LIMITACIONES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>
                <a:solidFill>
                  <a:srgbClr val="1F2D34"/>
                </a:solidFill>
                <a:latin typeface="Trebuchet MS"/>
              </a:rPr>
              <a:t>Importancia de variables: Permutation + SHAP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clasificacion de churn  ·  Grupo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6A7A82"/>
                </a:solidFill>
                <a:latin typeface="Calibri"/>
              </a:rPr>
              <a:t>11 / 11</a:t>
            </a:r>
            <a:endParaRPr lang="en-US" sz="900" dirty="0"/>
          </a:p>
        </p:txBody>
      </p:sp>
      <p:pic>
        <p:nvPicPr>
          <p:cNvPr id="8" name="Picture 7" descr="final_interpretability_com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63537"/>
            <a:ext cx="7543800" cy="39252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00200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30768" y="1773936"/>
            <a:ext cx="2971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Trebuchet MS"/>
              </a:rPr>
              <a:t>Lectura tecnica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76272"/>
            <a:ext cx="2898648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9" b="0" i="0">
                <a:solidFill>
                  <a:srgbClr val="1F2D34"/>
                </a:solidFill>
                <a:latin typeface="Calibri"/>
              </a:rPr>
              <a:t>- Tenure aparece en ambos metodos.
- Cashback y categoria preferida
  sostienen poder explicativo.
- OrdersPerTenure valida el
  feature engineering.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70332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8" y="3877056"/>
            <a:ext cx="2971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i="0">
                <a:solidFill>
                  <a:srgbClr val="E8833A"/>
                </a:solidFill>
                <a:latin typeface="Trebuchet MS"/>
              </a:rPr>
              <a:t>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4279392"/>
            <a:ext cx="2898648" cy="9601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9" b="0" i="0">
                <a:solidFill>
                  <a:srgbClr val="1F2D34"/>
                </a:solidFill>
                <a:latin typeface="Calibri"/>
              </a:rPr>
              <a:t>- Dataset observacional
- Temporalidad incompleta
- Precision final 57,9%
- Importancia no implica
  causalidad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1440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A0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Decisiones tecnicas clave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120640" cy="914400"/>
          </a:xfrm>
          <a:prstGeom prst="rect">
            <a:avLst/>
          </a:prstGeom>
          <a:solidFill>
            <a:srgbClr val="10394B"/>
          </a:solidFill>
          <a:ln w="12700">
            <a:solidFill>
              <a:srgbClr val="1E46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2084832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972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1938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por grupos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Neutraliza los 556 perfiles duplicados y evita fuga train/test.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120640" cy="914400"/>
          </a:xfrm>
          <a:prstGeom prst="rect">
            <a:avLst/>
          </a:prstGeom>
          <a:solidFill>
            <a:srgbClr val="10394B"/>
          </a:solidFill>
          <a:ln w="12700">
            <a:solidFill>
              <a:srgbClr val="1E46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0" y="2084832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1938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dentro del fold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7804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Imputacion y preprocesamiento aprenden solo del train de cada fold.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2880360"/>
            <a:ext cx="5120640" cy="914400"/>
          </a:xfrm>
          <a:prstGeom prst="rect">
            <a:avLst/>
          </a:prstGeom>
          <a:solidFill>
            <a:srgbClr val="10394B"/>
          </a:solidFill>
          <a:ln w="12700">
            <a:solidFill>
              <a:srgbClr val="1E46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097280" y="3136392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972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2990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Exclusion conservadora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3291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 y DaySinceLastOrder fuera por temporalidad no garantizada.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880360"/>
            <a:ext cx="5120640" cy="914400"/>
          </a:xfrm>
          <a:prstGeom prst="rect">
            <a:avLst/>
          </a:prstGeom>
          <a:solidFill>
            <a:srgbClr val="10394B"/>
          </a:solidFill>
          <a:ln w="12700">
            <a:solidFill>
              <a:srgbClr val="1E46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583680" y="3136392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836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78040" y="2990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antes de test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umbral 0,27 fijados con F2 y recall como prioridad.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114800"/>
            <a:ext cx="10360152" cy="12344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280160" y="41148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tuneado, umbral 0,27: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el 91,1% de los churns (recall) con F2 = 0,817 y precision 57,9% en test, reduciendo casi a la mitad las falsas alertas frente a la logistica.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5577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 y honesto sobre sus limitaciones: prioriza no perder clientes en riesgo y deja la calibracion economica a la presentacion de negocios.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1180</Words>
  <Application>Microsoft Office PowerPoint</Application>
  <PresentationFormat>Widescreen</PresentationFormat>
  <Paragraphs>302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clasificacion de churn</dc:title>
  <dc:subject>PptxGenJS Presentation</dc:subject>
  <dc:creator>Grupo 1</dc:creator>
  <cp:lastModifiedBy>Susana Ishida</cp:lastModifiedBy>
  <cp:revision>4</cp:revision>
  <dcterms:created xsi:type="dcterms:W3CDTF">2026-06-16T00:40:39Z</dcterms:created>
  <dcterms:modified xsi:type="dcterms:W3CDTF">2026-06-18T22:48:40Z</dcterms:modified>
</cp:coreProperties>
</file>
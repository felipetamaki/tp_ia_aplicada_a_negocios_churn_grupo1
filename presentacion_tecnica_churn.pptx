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2" r:id="rId5"/>
    <p:sldId id="263" r:id="rId6"/>
    <p:sldId id="265" r:id="rId7"/>
    <p:sldId id="266" r:id="rId8"/>
    <p:sldId id="267" r:id="rId9"/>
    <p:sldId id="268" r:id="rId10"/>
    <p:sldId id="269" r:id="rId11"/>
    <p:sldId id="270" r:id="rId12"/>
    <p:sldId id="271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0" d="100"/>
          <a:sy n="90" d="100"/>
        </p:scale>
        <p:origin x="370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A0A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A51-4717-AA30-30489A4FDB61}"/>
              </c:ext>
            </c:extLst>
          </c:dPt>
          <c:dPt>
            <c:idx val="1"/>
            <c:bubble3D val="0"/>
            <c:spPr>
              <a:solidFill>
                <a:srgbClr val="E883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A51-4717-AA30-30489A4FDB61}"/>
              </c:ext>
            </c:extLst>
          </c:dPt>
          <c:cat>
            <c:strRef>
              <c:f>Sheet1!$A$2:$A$3</c:f>
              <c:strCache>
                <c:ptCount val="2"/>
                <c:pt idx="0">
                  <c:v>Churn = 0 (4.682)</c:v>
                </c:pt>
                <c:pt idx="1">
                  <c:v>Churn = 1 (948)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83.2</c:v>
                </c:pt>
                <c:pt idx="1">
                  <c:v>16.8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A51-4717-AA30-30489A4FDB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D34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4716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40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PRESENTACION TECNICA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18288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 clasificacion</a:t>
            </a:r>
            <a:endParaRPr lang="en-US" sz="52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churn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 de clientes en riesgo con validacion agrupada, control de leakage y seleccion reproducible de modelos.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5074920"/>
            <a:ext cx="166420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005840" y="50749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5.630 clientes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98648" y="5074920"/>
            <a:ext cx="1376172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898648" y="5074920"/>
            <a:ext cx="13761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 churn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3420" y="5074920"/>
            <a:ext cx="2144268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03420" y="5074920"/>
            <a:ext cx="21442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 agrupada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76288" y="5074920"/>
            <a:ext cx="3008376" cy="457200"/>
          </a:xfrm>
          <a:prstGeom prst="roundRect">
            <a:avLst>
              <a:gd name="adj" fmla="val 50000"/>
            </a:avLst>
          </a:prstGeom>
          <a:solidFill>
            <a:srgbClr val="10394B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76288" y="507492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FED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final: Random Forest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A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ITBA · IA aplicada a negocios · Grupo 1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Y VARIABLE OBJETIVO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 clientes, target Churn binario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5.630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7472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(18 predictoras)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27432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00800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16,8%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con churn</a:t>
            </a:r>
            <a:endParaRPr lang="en-US" sz="12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8869680" y="1645920"/>
          <a:ext cx="2926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Shape 15"/>
          <p:cNvSpPr/>
          <p:nvPr/>
        </p:nvSpPr>
        <p:spPr>
          <a:xfrm>
            <a:off x="548640" y="3200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777240" y="33101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Tipos de variables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10515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continuas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ej. CashbackAmount, Tenure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37760" y="3749040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166360" y="3703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discretas / ordinales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OrderCount, SatisfactionScore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229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10515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Categóricas</a:t>
            </a: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nominales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PreferedOrderCat, MaritalStatus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37760" y="4315968"/>
            <a:ext cx="109728" cy="36576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166360" y="4270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Binarias  </a:t>
            </a: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Complain, Gender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E65C2A4B-A6AB-A58B-4423-E08BAA683B9D}"/>
              </a:ext>
            </a:extLst>
          </p:cNvPr>
          <p:cNvSpPr/>
          <p:nvPr/>
        </p:nvSpPr>
        <p:spPr>
          <a:xfrm>
            <a:off x="8054959" y="1426464"/>
            <a:ext cx="167335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Trebuchet MS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50" b="1" dirty="0">
                <a:solidFill>
                  <a:srgbClr val="0E7C86"/>
                </a:solidFill>
                <a:latin typeface="Trebuchet MS"/>
              </a:rPr>
              <a:t>AUDITOR</a:t>
            </a:r>
            <a:r>
              <a:rPr lang="es-AR" sz="1150" b="1" dirty="0">
                <a:solidFill>
                  <a:srgbClr val="0E7C86"/>
                </a:solidFill>
                <a:latin typeface="Trebuchet MS"/>
              </a:rPr>
              <a:t>Í</a:t>
            </a:r>
            <a:r>
              <a:rPr sz="1150" b="1" dirty="0">
                <a:solidFill>
                  <a:srgbClr val="0E7C86"/>
                </a:solidFill>
                <a:latin typeface="Trebuchet MS"/>
              </a:rPr>
              <a:t>A DE CALIDAD E IMPUTACI</a:t>
            </a:r>
            <a:r>
              <a:rPr lang="es-AR" sz="1150" b="1" dirty="0" err="1">
                <a:solidFill>
                  <a:srgbClr val="0E7C86"/>
                </a:solidFill>
                <a:latin typeface="Trebuchet MS"/>
              </a:rPr>
              <a:t>Ó</a:t>
            </a:r>
            <a:r>
              <a:rPr sz="1150" b="1" dirty="0">
                <a:solidFill>
                  <a:srgbClr val="0E7C86"/>
                </a:solidFill>
                <a:latin typeface="Trebuchet MS"/>
              </a:rPr>
              <a:t>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600" b="1" dirty="0" err="1">
                <a:solidFill>
                  <a:srgbClr val="1F2D34"/>
                </a:solidFill>
                <a:latin typeface="Trebuchet MS"/>
              </a:rPr>
              <a:t>Nulos</a:t>
            </a:r>
            <a:r>
              <a:rPr sz="2600" b="1" dirty="0">
                <a:solidFill>
                  <a:srgbClr val="1F2D34"/>
                </a:solidFill>
                <a:latin typeface="Trebuchet MS"/>
              </a:rPr>
              <a:t>, </a:t>
            </a:r>
            <a:r>
              <a:rPr sz="2600" b="1" dirty="0" err="1">
                <a:solidFill>
                  <a:srgbClr val="1F2D34"/>
                </a:solidFill>
                <a:latin typeface="Trebuchet MS"/>
              </a:rPr>
              <a:t>duplicados</a:t>
            </a:r>
            <a:r>
              <a:rPr sz="2600" b="1" dirty="0">
                <a:solidFill>
                  <a:srgbClr val="1F2D34"/>
                </a:solidFill>
                <a:latin typeface="Trebuchet MS"/>
              </a:rPr>
              <a:t>, </a:t>
            </a:r>
            <a:r>
              <a:rPr sz="2600" b="1" dirty="0" err="1">
                <a:solidFill>
                  <a:srgbClr val="1F2D34"/>
                </a:solidFill>
                <a:latin typeface="Trebuchet MS"/>
              </a:rPr>
              <a:t>categor</a:t>
            </a:r>
            <a:r>
              <a:rPr lang="es-AR" sz="2600" b="1" dirty="0">
                <a:solidFill>
                  <a:srgbClr val="1F2D34"/>
                </a:solidFill>
                <a:latin typeface="Trebuchet MS"/>
              </a:rPr>
              <a:t>í</a:t>
            </a:r>
            <a:r>
              <a:rPr sz="2600" b="1" dirty="0">
                <a:solidFill>
                  <a:srgbClr val="1F2D34"/>
                </a:solidFill>
                <a:latin typeface="Trebuchet MS"/>
              </a:rPr>
              <a:t>as </a:t>
            </a:r>
            <a:r>
              <a:rPr sz="2600" b="1" dirty="0" err="1">
                <a:solidFill>
                  <a:srgbClr val="1F2D34"/>
                </a:solidFill>
                <a:latin typeface="Trebuchet MS"/>
              </a:rPr>
              <a:t>equivalentes</a:t>
            </a:r>
            <a:r>
              <a:rPr sz="2600" b="1" dirty="0">
                <a:solidFill>
                  <a:srgbClr val="1F2D34"/>
                </a:solidFill>
                <a:latin typeface="Trebuchet MS"/>
              </a:rPr>
              <a:t> e </a:t>
            </a:r>
            <a:r>
              <a:rPr sz="2600" b="1" dirty="0" err="1">
                <a:solidFill>
                  <a:srgbClr val="1F2D34"/>
                </a:solidFill>
                <a:latin typeface="Trebuchet MS"/>
              </a:rPr>
              <a:t>imputaci</a:t>
            </a:r>
            <a:r>
              <a:rPr lang="es-AR" sz="2600" b="1" dirty="0" err="1">
                <a:solidFill>
                  <a:srgbClr val="1F2D34"/>
                </a:solidFill>
                <a:latin typeface="Trebuchet MS"/>
              </a:rPr>
              <a:t>ó</a:t>
            </a:r>
            <a:r>
              <a:rPr sz="2600" b="1" dirty="0">
                <a:solidFill>
                  <a:srgbClr val="1F2D34"/>
                </a:solidFill>
                <a:latin typeface="Trebuchet MS"/>
              </a:rPr>
              <a:t>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2 / 11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4231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563624"/>
            <a:ext cx="242316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1.856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2240279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filas con algun nulo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19888"/>
            <a:ext cx="21488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40" b="0" i="0" dirty="0" err="1">
                <a:solidFill>
                  <a:srgbClr val="6A7A82"/>
                </a:solidFill>
                <a:latin typeface="Calibri"/>
              </a:rPr>
              <a:t>exactamente</a:t>
            </a:r>
            <a:r>
              <a:rPr sz="840" b="0" i="0" dirty="0">
                <a:solidFill>
                  <a:srgbClr val="6A7A82"/>
                </a:solidFill>
                <a:latin typeface="Calibri"/>
              </a:rPr>
              <a:t> 1 </a:t>
            </a:r>
            <a:r>
              <a:rPr sz="840" b="0" i="0" dirty="0" err="1">
                <a:solidFill>
                  <a:srgbClr val="6A7A82"/>
                </a:solidFill>
                <a:latin typeface="Calibri"/>
              </a:rPr>
              <a:t>faltante</a:t>
            </a:r>
            <a:r>
              <a:rPr sz="840" b="0" i="0" dirty="0">
                <a:solidFill>
                  <a:srgbClr val="6A7A82"/>
                </a:solidFill>
                <a:latin typeface="Calibri"/>
              </a:rPr>
              <a:t> c/u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417320"/>
            <a:ext cx="24231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80" y="1563624"/>
            <a:ext cx="242316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556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029968"/>
            <a:ext cx="2240279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filas con features identicas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197917"/>
            <a:ext cx="21488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40" b="0" i="0" dirty="0" err="1">
                <a:solidFill>
                  <a:srgbClr val="6A7A82"/>
                </a:solidFill>
                <a:latin typeface="Calibri"/>
              </a:rPr>
              <a:t>perfiles</a:t>
            </a:r>
            <a:r>
              <a:rPr sz="840" b="0" i="0" dirty="0">
                <a:solidFill>
                  <a:srgbClr val="6A7A82"/>
                </a:solidFill>
                <a:latin typeface="Calibri"/>
              </a:rPr>
              <a:t> </a:t>
            </a:r>
            <a:r>
              <a:rPr sz="840" b="0" i="0" dirty="0" err="1">
                <a:solidFill>
                  <a:srgbClr val="6A7A82"/>
                </a:solidFill>
                <a:latin typeface="Calibri"/>
              </a:rPr>
              <a:t>duplicados</a:t>
            </a:r>
            <a:endParaRPr sz="840" b="0" i="0" dirty="0">
              <a:solidFill>
                <a:srgbClr val="6A7A82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760720" y="1417320"/>
            <a:ext cx="205740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0" y="1563624"/>
            <a:ext cx="2057400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E8833A"/>
                </a:solidFill>
                <a:latin typeface="Trebuchet M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59" y="2029968"/>
            <a:ext cx="1874519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40" b="1" i="0">
                <a:solidFill>
                  <a:srgbClr val="1F2D34"/>
                </a:solidFill>
                <a:latin typeface="Calibri"/>
              </a:rPr>
              <a:t>duplicados de CustomerID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9592" y="2199132"/>
            <a:ext cx="1783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840" b="0" i="0" dirty="0" err="1">
                <a:solidFill>
                  <a:srgbClr val="6A7A82"/>
                </a:solidFill>
                <a:latin typeface="Calibri"/>
              </a:rPr>
              <a:t>identificador</a:t>
            </a:r>
            <a:r>
              <a:rPr sz="840" b="0" i="0" dirty="0">
                <a:solidFill>
                  <a:srgbClr val="6A7A82"/>
                </a:solidFill>
                <a:latin typeface="Calibri"/>
              </a:rPr>
              <a:t> </a:t>
            </a:r>
            <a:r>
              <a:rPr sz="840" b="0" i="0" dirty="0" err="1">
                <a:solidFill>
                  <a:srgbClr val="6A7A82"/>
                </a:solidFill>
                <a:latin typeface="Calibri"/>
              </a:rPr>
              <a:t>integro</a:t>
            </a:r>
            <a:endParaRPr sz="840" b="0" i="0" dirty="0">
              <a:solidFill>
                <a:srgbClr val="6A7A82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72922" y="2020824"/>
            <a:ext cx="998671" cy="28289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19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variables </a:t>
            </a:r>
            <a:r>
              <a:rPr sz="919" i="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numericas</a:t>
            </a:r>
            <a:r>
              <a:rPr sz="919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
con </a:t>
            </a:r>
            <a:r>
              <a:rPr sz="919" i="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valores</a:t>
            </a:r>
            <a:r>
              <a:rPr sz="919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 </a:t>
            </a:r>
            <a:r>
              <a:rPr sz="919" i="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/>
              </a:rPr>
              <a:t>faltantes</a:t>
            </a:r>
            <a:endParaRPr sz="919" i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2011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2500" b="1" i="0" dirty="0">
                <a:solidFill>
                  <a:srgbClr val="0E7C86"/>
                </a:solidFill>
                <a:latin typeface="Trebuchet MS"/>
              </a:rP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66960" y="1417320"/>
            <a:ext cx="1673352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10090404" y="1719072"/>
            <a:ext cx="1417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050" b="1" i="0" dirty="0" err="1">
                <a:solidFill>
                  <a:srgbClr val="0E7C86"/>
                </a:solidFill>
                <a:latin typeface="Trebuchet MS"/>
              </a:rPr>
              <a:t>Dentro</a:t>
            </a:r>
            <a:r>
              <a:rPr sz="1050" b="1" i="0" dirty="0">
                <a:solidFill>
                  <a:srgbClr val="0E7C86"/>
                </a:solidFill>
                <a:latin typeface="Trebuchet MS"/>
              </a:rPr>
              <a:t> del 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72478" y="1993392"/>
            <a:ext cx="1053173" cy="2521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es-AR" sz="819" b="1" i="0" dirty="0">
                <a:solidFill>
                  <a:srgbClr val="6A7A82"/>
                </a:solidFill>
                <a:latin typeface="Calibri"/>
              </a:rPr>
              <a:t>Imputación</a:t>
            </a:r>
            <a:r>
              <a:rPr sz="819" b="1" i="0" dirty="0">
                <a:solidFill>
                  <a:srgbClr val="6A7A82"/>
                </a:solidFill>
                <a:latin typeface="Calibri"/>
              </a:rPr>
              <a:t> y </a:t>
            </a:r>
            <a:r>
              <a:rPr sz="819" b="1" i="0" dirty="0" err="1">
                <a:solidFill>
                  <a:srgbClr val="6A7A82"/>
                </a:solidFill>
                <a:latin typeface="Calibri"/>
              </a:rPr>
              <a:t>escalado</a:t>
            </a:r>
            <a:r>
              <a:rPr sz="819" b="1" i="0" dirty="0">
                <a:solidFill>
                  <a:srgbClr val="6A7A82"/>
                </a:solidFill>
                <a:latin typeface="Calibri"/>
              </a:rPr>
              <a:t>
se </a:t>
            </a:r>
            <a:r>
              <a:rPr sz="819" b="1" i="0" dirty="0" err="1">
                <a:solidFill>
                  <a:srgbClr val="6A7A82"/>
                </a:solidFill>
                <a:latin typeface="Calibri"/>
              </a:rPr>
              <a:t>ajustan</a:t>
            </a:r>
            <a:r>
              <a:rPr sz="819" b="1" i="0" dirty="0">
                <a:solidFill>
                  <a:srgbClr val="6A7A82"/>
                </a:solidFill>
                <a:latin typeface="Calibri"/>
              </a:rPr>
              <a:t> solo con 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697480"/>
            <a:ext cx="110916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834640"/>
            <a:ext cx="3685304" cy="1800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70" b="1" i="0" dirty="0" err="1">
                <a:solidFill>
                  <a:srgbClr val="1F2D34"/>
                </a:solidFill>
                <a:latin typeface="Trebuchet MS"/>
              </a:rPr>
              <a:t>Categor</a:t>
            </a:r>
            <a:r>
              <a:rPr lang="es-AR" sz="1170" b="1" i="0" dirty="0">
                <a:solidFill>
                  <a:srgbClr val="1F2D34"/>
                </a:solidFill>
                <a:latin typeface="Trebuchet MS"/>
              </a:rPr>
              <a:t>í</a:t>
            </a:r>
            <a:r>
              <a:rPr sz="1170" b="1" i="0" dirty="0">
                <a:solidFill>
                  <a:srgbClr val="1F2D34"/>
                </a:solidFill>
                <a:latin typeface="Trebuchet MS"/>
              </a:rPr>
              <a:t>as </a:t>
            </a:r>
            <a:r>
              <a:rPr sz="1170" b="1" i="0" dirty="0" err="1">
                <a:solidFill>
                  <a:srgbClr val="1F2D34"/>
                </a:solidFill>
                <a:latin typeface="Trebuchet MS"/>
              </a:rPr>
              <a:t>semanticamente</a:t>
            </a:r>
            <a:r>
              <a:rPr sz="1170" b="1" i="0" dirty="0">
                <a:solidFill>
                  <a:srgbClr val="1F2D34"/>
                </a:solidFill>
                <a:latin typeface="Trebuchet MS"/>
              </a:rPr>
              <a:t> </a:t>
            </a:r>
            <a:r>
              <a:rPr sz="1170" b="1" i="0" dirty="0" err="1">
                <a:solidFill>
                  <a:srgbClr val="1F2D34"/>
                </a:solidFill>
                <a:latin typeface="Trebuchet MS"/>
              </a:rPr>
              <a:t>equivalentes</a:t>
            </a:r>
            <a:r>
              <a:rPr sz="1170" b="1" i="0" dirty="0">
                <a:solidFill>
                  <a:srgbClr val="1F2D34"/>
                </a:solidFill>
                <a:latin typeface="Trebuchet MS"/>
              </a:rPr>
              <a:t> </a:t>
            </a:r>
            <a:r>
              <a:rPr sz="1170" b="1" i="0" dirty="0" err="1">
                <a:solidFill>
                  <a:srgbClr val="1F2D34"/>
                </a:solidFill>
                <a:latin typeface="Trebuchet MS"/>
              </a:rPr>
              <a:t>detectadas</a:t>
            </a:r>
            <a:endParaRPr sz="1170" b="1" i="0" dirty="0">
              <a:solidFill>
                <a:srgbClr val="1F2D34"/>
              </a:solidFill>
              <a:latin typeface="Trebuchet M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2296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Mobile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COD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5935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Cash on Delivery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CC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Credit Card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3246120"/>
            <a:ext cx="50292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E8833A"/>
                </a:solidFill>
                <a:latin typeface="Calibri"/>
              </a:rPr>
              <a:t>Mobile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3246120"/>
            <a:ext cx="137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50" b="0" i="0">
                <a:solidFill>
                  <a:srgbClr val="6A7A82"/>
                </a:solidFill>
                <a:latin typeface="Calibri"/>
              </a:rPr>
              <a:t>=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37192" y="3246120"/>
            <a:ext cx="128016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 b="1" i="0">
                <a:solidFill>
                  <a:srgbClr val="0E7C86"/>
                </a:solidFill>
                <a:latin typeface="Calibri"/>
              </a:rPr>
              <a:t>Mobile Phone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7782116"/>
              </p:ext>
            </p:extLst>
          </p:nvPr>
        </p:nvGraphicFramePr>
        <p:xfrm>
          <a:off x="548640" y="3977639"/>
          <a:ext cx="6629400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Trebuchet MS"/>
                        </a:rPr>
                        <a:t>Variables</a:t>
                      </a:r>
                    </a:p>
                  </a:txBody>
                  <a:tcPr marL="54864" marR="54864" marT="27432" marB="27432"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30" b="1" dirty="0">
                          <a:solidFill>
                            <a:srgbClr val="FFFFFF"/>
                          </a:solidFill>
                          <a:latin typeface="Trebuchet MS"/>
                        </a:rPr>
                        <a:t>M</a:t>
                      </a:r>
                      <a:r>
                        <a:rPr lang="es-AR" sz="1030" b="1" dirty="0">
                          <a:solidFill>
                            <a:srgbClr val="FFFFFF"/>
                          </a:solidFill>
                          <a:latin typeface="Trebuchet MS"/>
                        </a:rPr>
                        <a:t>é</a:t>
                      </a:r>
                      <a:r>
                        <a:rPr sz="1030" b="1" dirty="0" err="1">
                          <a:solidFill>
                            <a:srgbClr val="FFFFFF"/>
                          </a:solidFill>
                          <a:latin typeface="Trebuchet MS"/>
                        </a:rPr>
                        <a:t>todo</a:t>
                      </a:r>
                      <a:endParaRPr sz="1030" b="1" dirty="0">
                        <a:solidFill>
                          <a:srgbClr val="FFFFFF"/>
                        </a:solidFill>
                        <a:latin typeface="Trebuchet MS"/>
                      </a:endParaRPr>
                    </a:p>
                  </a:txBody>
                  <a:tcPr marL="54864" marR="54864" marT="27432" marB="27432"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WarehouseToHome, CouponUsed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Tenure, HourSpendOnApp, OrderAmountHike,</a:t>
                      </a:r>
                    </a:p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OrderCount, DaySinceLastOrder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KNN Imputer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890" b="0">
                          <a:solidFill>
                            <a:srgbClr val="1F2D34"/>
                          </a:solidFill>
                          <a:latin typeface="Calibri"/>
                        </a:rPr>
                        <a:t>Categoricas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90" b="0" dirty="0">
                          <a:solidFill>
                            <a:srgbClr val="1F2D34"/>
                          </a:solidFill>
                          <a:latin typeface="Calibri"/>
                        </a:rPr>
                        <a:t>Moda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7543800" y="3977639"/>
            <a:ext cx="409651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26679" y="4133087"/>
            <a:ext cx="947375" cy="1769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50" b="1" i="0" dirty="0" err="1">
                <a:solidFill>
                  <a:srgbClr val="0E7C86"/>
                </a:solidFill>
                <a:latin typeface="Trebuchet MS"/>
              </a:rPr>
              <a:t>Configuraci</a:t>
            </a:r>
            <a:r>
              <a:rPr lang="es-AR" sz="1150" b="1" i="0" dirty="0" err="1">
                <a:solidFill>
                  <a:srgbClr val="0E7C86"/>
                </a:solidFill>
                <a:latin typeface="Trebuchet MS"/>
              </a:rPr>
              <a:t>ó</a:t>
            </a:r>
            <a:r>
              <a:rPr sz="1150" b="1" i="0" dirty="0">
                <a:solidFill>
                  <a:srgbClr val="0E7C86"/>
                </a:solidFill>
                <a:latin typeface="Trebuchet MS"/>
              </a:rPr>
              <a:t>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4462272"/>
            <a:ext cx="3842975" cy="73866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790" b="0" i="0" dirty="0">
                <a:solidFill>
                  <a:srgbClr val="1F2D34"/>
                </a:solidFill>
                <a:latin typeface="Calibri"/>
              </a:rPr>
              <a:t>-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KNNImputer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(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n_neighbors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=5, weights="distance")
-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Estandarizacion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previa para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modelos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sensibles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a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escala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
- KNN vs.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imputacion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iterativa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comparados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por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MAE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simulado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
- KNN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obtuvo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menor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MAE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en</a:t>
            </a:r>
            <a:r>
              <a:rPr sz="1200" b="0" i="0" dirty="0">
                <a:solidFill>
                  <a:srgbClr val="1F2D34"/>
                </a:solidFill>
                <a:latin typeface="Calibri"/>
              </a:rPr>
              <a:t> las 5 variables </a:t>
            </a:r>
            <a:r>
              <a:rPr sz="1200" b="0" i="0" dirty="0" err="1">
                <a:solidFill>
                  <a:srgbClr val="1F2D34"/>
                </a:solidFill>
                <a:latin typeface="Calibri"/>
              </a:rPr>
              <a:t>evaluadas</a:t>
            </a:r>
            <a:endParaRPr sz="790" b="0" i="0" dirty="0">
              <a:solidFill>
                <a:srgbClr val="1F2D34"/>
              </a:solidFill>
              <a:latin typeface="Calibr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548640" y="5760720"/>
            <a:ext cx="1109167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7240" y="5833872"/>
            <a:ext cx="141732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80" b="1" i="0">
                <a:solidFill>
                  <a:srgbClr val="E8833A"/>
                </a:solidFill>
                <a:latin typeface="Trebuchet MS"/>
              </a:rPr>
              <a:t>Regla metodologica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48840" y="5833872"/>
            <a:ext cx="9098280" cy="1463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30" b="0" i="0">
                <a:solidFill>
                  <a:srgbClr val="1F2D34"/>
                </a:solidFill>
                <a:latin typeface="Calibri"/>
              </a:rPr>
              <a:t>La imputacion se ajusta dentro de cada fold; validacion y test no participan del calculo de medianas, vecinos, moda ni escalado.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AGRUPADO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StratifiedGroupKFold sin perfiles compartidos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4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173736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187452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StratifiedGroupKFold(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n_splits=5,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shuffle=True,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random_state=42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9FE4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864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77240" y="37764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Definicion del grupo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114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 todas las variables explicativas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incluye CustomerID ni Churn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83080"/>
          <a:ext cx="5239512" cy="13716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7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7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Conjunto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Filas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Churn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400800" y="3291840"/>
            <a:ext cx="5239512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400800" y="3291840"/>
            <a:ext cx="5239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6000" dirty="0"/>
          </a:p>
        </p:txBody>
      </p:sp>
      <p:sp>
        <p:nvSpPr>
          <p:cNvPr id="16" name="Text 13"/>
          <p:cNvSpPr/>
          <p:nvPr/>
        </p:nvSpPr>
        <p:spPr>
          <a:xfrm>
            <a:off x="6400800" y="429768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compartidos entre train y test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4590288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test no se usa para elegir modelo, features ni umbral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Tres variables de intensidad, deterministas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5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OrdersPerTenure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OrderCount / (Tenure + 1)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498848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CashbackPerOrder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98848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CashbackAmount / (OrderCount + 1)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91856" y="1783080"/>
            <a:ext cx="3493008" cy="13716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0456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CouponsPerOrder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0456" y="23774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AF2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CouponUsed / (OrderCount + 1)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16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77240" y="3474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Justificacion tecnica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 intensidad, no solo magnitud absoluta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3822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+1 evita divisiones por cero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deterministas, no usan el target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generan por separado en train y test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incluyen antes del ColumnTransformer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45902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20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OrdersPerTenure conserva importancia en el modelo final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MODELOS E HIPERPARAMETROS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 piso Dummy al ensamble Random Forest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6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Dummy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most_frequent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3355848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3584448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Regresion logistica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84448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0.1   class_weight = balanced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max_iter = 2000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random_state = 42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91440" cy="23317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391656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Arbol de decision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1656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balanced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 = 20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70264" y="1783080"/>
            <a:ext cx="26060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8970264" y="1783080"/>
            <a:ext cx="91440" cy="233172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198864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(FINAL)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98864" y="242316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 = 300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 = 12   max_features = 0.5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max_samples = 0.7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A7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 = {0:1, 1:5}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091672" cy="77724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22960" y="4251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A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  </a:t>
            </a:r>
            <a:r>
              <a:rPr lang="en-US" sz="12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modelos se ajustaron con GridSearchCV sobre los mismos folds agrupados optimizando F2 (ver Modelo.ipynb, seccion 12 bis).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METRICAS DE EVALUACION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F2 prioriza recall sobre precision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7 / 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777240" y="178308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7830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FN)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77240" y="262432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43200" y="2624328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 / (TP + FP)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54864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77240" y="346557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F-beta (β=2)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346557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(1+β²)·P·R / (β²·P + R)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370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β=2, recall pesa 4× la precision dentro de la formula.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0" y="1783080"/>
            <a:ext cx="523951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Matriz de confusion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04088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TP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9235440" y="2331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FN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704088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FP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solidFill>
            <a:srgbClr val="9FB3B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235440" y="3474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TN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58368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Complementarias: F1 · PR-AUC · ROC-AUC · cantidad de alertas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SENSIBILIDAD TEMPORAL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con y sin variables de riesgo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8 / 11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072733"/>
              </p:ext>
            </p:extLst>
          </p:nvPr>
        </p:nvGraphicFramePr>
        <p:xfrm>
          <a:off x="548640" y="1828800"/>
          <a:ext cx="5486400" cy="237744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2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Escenario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Complain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DaySinceLastOrder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ambas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temporal_sensitivity_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834" y="1737360"/>
            <a:ext cx="4517724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0E2A38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  </a:t>
            </a:r>
            <a:r>
              <a:rPr lang="en-US" sz="1150" dirty="0">
                <a:solidFill>
                  <a:srgbClr val="EA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Complain y DaySinceLastOrder por temporalidad no garantizada. Medido sobre RF por ser el modelo mas reactivo a ambas.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COMPARACION DE MODELOS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Fuera de fold, modelos tuneados, umbral 0,50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9 / 11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74477"/>
              </p:ext>
            </p:extLst>
          </p:nvPr>
        </p:nvGraphicFramePr>
        <p:xfrm>
          <a:off x="548640" y="1828800"/>
          <a:ext cx="5486400" cy="237744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2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Modelo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ROC-AUC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6A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Dummy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kern="1200" dirty="0">
                          <a:solidFill>
                            <a:srgbClr val="6A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Regresion logistica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kern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0,688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kern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0,809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Arbol de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Image 0" descr="C:\Users\ftamaki\Documents\ITBA\1C2026\IA\TP_IA_aplicada_a_negocios_churn_Grupo1\reports\figures\final_model_comparison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061" y="1737360"/>
            <a:ext cx="4275270" cy="32918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48640" y="4343400"/>
            <a:ext cx="5486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  <a:prstDash val="solid"/>
          </a:ln>
          <a:effectLst>
            <a:outerShdw blurRad="114300" dist="38100" dir="5400000" algn="bl" rotWithShape="0">
              <a:srgbClr val="0E2A38">
                <a:alpha val="13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   </a:t>
            </a:r>
            <a:r>
              <a:rPr lang="en-US" sz="1150" dirty="0">
                <a:solidFill>
                  <a:srgbClr val="1F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tuneado. Criterio primario F2 (el mas alto fuera de fold). A igual recall genera la mitad de falsas alertas que la logistica. La logistica queda como baseline interpretable.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AR" b="1" dirty="0">
                <a:solidFill>
                  <a:srgbClr val="FFFFFF"/>
                </a:solidFill>
                <a:latin typeface="Trebuchet MS"/>
              </a:rPr>
              <a:t>0</a:t>
            </a:r>
            <a:r>
              <a:rPr lang="en-US" b="1" dirty="0">
                <a:solidFill>
                  <a:srgbClr val="FFFFFF"/>
                </a:solidFill>
                <a:latin typeface="Trebuchet MS"/>
              </a:rPr>
              <a:t>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DE UMBRAL Y TEST FINAL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Umbral </a:t>
            </a:r>
            <a:r>
              <a:rPr lang="en-US" sz="2700" b="1" dirty="0" err="1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elegido</a:t>
            </a:r>
            <a:r>
              <a:rPr lang="en-US" sz="2700" b="1" dirty="0">
                <a:solidFill>
                  <a:srgbClr val="1F2D3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0,27, congelado antes de test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10 / 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Ajuste fuera de fold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5394960" cy="1316736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Umbral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F2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Recall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Precision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Contactos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88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 (final)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3337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Resultado final en test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394960" cy="192024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Metrica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Valor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D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212" y="1417320"/>
            <a:ext cx="4882896" cy="40690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5504688"/>
            <a:ext cx="48920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50" b="1" i="0">
                <a:solidFill>
                  <a:srgbClr val="0E7C86"/>
                </a:solidFill>
                <a:latin typeface="Trebuchet MS"/>
              </a:rPr>
              <a:t>Matriz de confusion en 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751576"/>
            <a:ext cx="48920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0" i="0">
                <a:solidFill>
                  <a:srgbClr val="6A7A82"/>
                </a:solidFill>
                <a:latin typeface="Calibri"/>
              </a:rPr>
              <a:t>173 TP / 17 FN / 126 FP / 810 TN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 dirty="0">
                <a:solidFill>
                  <a:srgbClr val="FFFFFF"/>
                </a:solidFill>
                <a:latin typeface="Trebuchet MS"/>
              </a:rPr>
              <a:t>1</a:t>
            </a:r>
            <a:r>
              <a:rPr lang="es-AR" sz="1800" b="1" dirty="0">
                <a:solidFill>
                  <a:srgbClr val="FFFFFF"/>
                </a:solidFill>
                <a:latin typeface="Trebuchet MS"/>
              </a:rPr>
              <a:t>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INTERPRETABILIDAD Y LIMITACIONES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80160" y="694944"/>
            <a:ext cx="103628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700" b="1">
                <a:solidFill>
                  <a:srgbClr val="1F2D34"/>
                </a:solidFill>
                <a:latin typeface="Trebuchet MS"/>
              </a:rPr>
              <a:t>Importancia de variables: Permutation + SHAP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clasificacion de churn  ·  Grupo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A7A82"/>
                </a:solidFill>
                <a:latin typeface="Calibri"/>
              </a:rPr>
              <a:t>11 / 11</a:t>
            </a:r>
            <a:endParaRPr lang="en-US" sz="900" dirty="0"/>
          </a:p>
        </p:txBody>
      </p:sp>
      <p:pic>
        <p:nvPicPr>
          <p:cNvPr id="8" name="Picture 7" descr="final_interpretability_comb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63537"/>
            <a:ext cx="7543800" cy="392528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002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30768" y="1773936"/>
            <a:ext cx="2971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 i="0">
                <a:solidFill>
                  <a:srgbClr val="0E7C86"/>
                </a:solidFill>
                <a:latin typeface="Trebuchet MS"/>
              </a:rPr>
              <a:t>Lectura tecnica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85632" y="2176272"/>
            <a:ext cx="2898648" cy="10058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0" i="0">
                <a:solidFill>
                  <a:srgbClr val="1F2D34"/>
                </a:solidFill>
                <a:latin typeface="Calibri"/>
              </a:rPr>
              <a:t>- Tenure aparece en ambos metodos.
- Cashback y categoria preferida
  sostienen poder explicativo.
- OrdersPerTenure valida el
  feature engineering.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703320"/>
            <a:ext cx="34290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30768" y="3877056"/>
            <a:ext cx="2971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 i="0">
                <a:solidFill>
                  <a:srgbClr val="E8833A"/>
                </a:solidFill>
                <a:latin typeface="Trebuchet MS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4279392"/>
            <a:ext cx="2898648" cy="9601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19" b="0" i="0">
                <a:solidFill>
                  <a:srgbClr val="1F2D34"/>
                </a:solidFill>
                <a:latin typeface="Calibri"/>
              </a:rPr>
              <a:t>- Dataset observacional
- Temporalidad incompleta
- Precision final 57,9%
- Importancia no implica
  causalidad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83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1440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AA0A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9144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Decisiones tecnicas clave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9144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972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0972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916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por grupos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Neutraliza los 556 perfiles duplicados y evita fuga train/test.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583680" y="208483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583680" y="2084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8040" y="1938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Todo dentro del fold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78040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Imputacion y preprocesamiento aprenden solo del train de cada fold.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10972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0972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916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Exclusion conservadora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 y DaySinceLastOrder fuera por temporalidad no garantizada.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880360"/>
            <a:ext cx="5120640" cy="914400"/>
          </a:xfrm>
          <a:prstGeom prst="rect">
            <a:avLst/>
          </a:prstGeom>
          <a:solidFill>
            <a:srgbClr val="10394B"/>
          </a:solidFill>
          <a:ln w="12700">
            <a:solidFill>
              <a:srgbClr val="1E465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583680" y="3136392"/>
            <a:ext cx="411480" cy="41148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583680" y="3136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178040" y="29900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antes de test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78040" y="32918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7D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y umbral 0,27 fijados con F2 y recall como prioridad.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114800"/>
            <a:ext cx="10360152" cy="123444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280160" y="41148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final 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tuneado, umbral 0,27: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el 91,1% de los churns (recall) con F2 = 0,817 y precision 57,9% en test, reduciendo casi a la mitad las falsas alertas frente a la logistica.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557784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reproducible y honesto sobre sus limitaciones: prioriza no perder clientes en riesgo y deja la calibracion economica a la presentacion de negocios.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1180</Words>
  <Application>Microsoft Office PowerPoint</Application>
  <PresentationFormat>Widescreen</PresentationFormat>
  <Paragraphs>302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Pipeline de clasificacion de churn</dc:title>
  <dc:subject>PptxGenJS Presentation</dc:subject>
  <dc:creator>Grupo 1</dc:creator>
  <cp:lastModifiedBy>Susana Ishida</cp:lastModifiedBy>
  <cp:revision>4</cp:revision>
  <dcterms:created xsi:type="dcterms:W3CDTF">2026-06-16T00:40:39Z</dcterms:created>
  <dcterms:modified xsi:type="dcterms:W3CDTF">2026-06-18T22:48:40Z</dcterms:modified>
</cp:coreProperties>
</file>
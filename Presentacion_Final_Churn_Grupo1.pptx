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-115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3A5F"/>
              </a:solidFill>
              <a:ln w="25400" cap="flat">
                <a:solidFill>
                  <a:srgbClr val="F6F3EC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82F7-403E-A6AD-D3BB33516499}"/>
              </c:ext>
            </c:extLst>
          </c:dPt>
          <c:dPt>
            <c:idx val="1"/>
            <c:bubble3D val="0"/>
            <c:spPr>
              <a:solidFill>
                <a:srgbClr val="DA6A3C"/>
              </a:solidFill>
              <a:ln w="25400" cap="flat">
                <a:solidFill>
                  <a:srgbClr val="F6F3EC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F7-403E-A6AD-D3BB33516499}"/>
              </c:ext>
            </c:extLst>
          </c:dPt>
          <c:cat>
            <c:strRef>
              <c:f>Sheet1!$A$2:$A$3</c:f>
              <c:strCache>
                <c:ptCount val="2"/>
                <c:pt idx="0">
                  <c:v>Permanece (83,2%)</c:v>
                </c:pt>
                <c:pt idx="1">
                  <c:v>Churn (16,8%)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83.2</c:v>
                </c:pt>
                <c:pt idx="1">
                  <c:v>16.8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2F7-403E-A6AD-D3BB335164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C2B3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184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77240"/>
            <a:ext cx="91440" cy="292608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 ·  IA APLICADA A NEGOCIOS  ·  ANÁLISIS DE CHURN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se nos van los clientes,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qué hacer al respecto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5.630 clientes de e-commerce para entender por qué abandonan, validar las señales con datos y construir un modelo que priorice a quién contactar antes de perderlo.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63640"/>
            <a:ext cx="11091672" cy="0"/>
          </a:xfrm>
          <a:prstGeom prst="line">
            <a:avLst/>
          </a:prstGeom>
          <a:noFill/>
          <a:ln w="12700">
            <a:solidFill>
              <a:srgbClr val="3348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32E5172-585C-615E-A64B-3DC07475B4DE}"/>
              </a:ext>
            </a:extLst>
          </p:cNvPr>
          <p:cNvSpPr txBox="1"/>
          <p:nvPr/>
        </p:nvSpPr>
        <p:spPr>
          <a:xfrm>
            <a:off x="458002" y="4160520"/>
            <a:ext cx="726627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500" b="1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Goldschmidt, Moira Patricia Clavin, </a:t>
            </a:r>
            <a:r>
              <a:rPr lang="es-AR" sz="1500" b="1" dirty="0" err="1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Kahela</a:t>
            </a:r>
            <a:r>
              <a:rPr lang="es-AR" sz="1500" b="1" dirty="0">
                <a:solidFill>
                  <a:srgbClr val="AEBE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López, Elías Ojeda y Felipe Tamaki</a:t>
            </a:r>
            <a:endParaRPr lang="en-US" sz="1500" b="1" dirty="0">
              <a:solidFill>
                <a:srgbClr val="AEBED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NEGOCIO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churn cuesta, y no está repartido al azar</a:t>
            </a:r>
            <a:endParaRPr lang="en-US" sz="27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783080"/>
          <a:ext cx="41148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1371600" y="29260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A6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16,8%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846320" y="1920240"/>
            <a:ext cx="6766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948 de 5.630 clientes abandonaron la marca: 1 de cada 6.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Adquirir un cliente nuevo cuesta más que retener uno existente; cada baja obliga a recomprar demanda.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se concentra en momentos y perfiles puntuales: no es uniforme.</a:t>
            </a:r>
            <a:endParaRPr lang="en-US" sz="15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5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se puede actuar con foco, en lugar de gastar retención en toda la base por igual.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5486400"/>
            <a:ext cx="11091672" cy="868680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5486400"/>
            <a:ext cx="82296" cy="868680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54864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 del proyecto:  </a:t>
            </a: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contactar antes de perderlo?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2919725A-38E9-3675-E5B1-E2CB5216F5D1}"/>
              </a:ext>
            </a:extLst>
          </p:cNvPr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 POR QUÉ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 POR QUÉ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DESDE EL ARRANQUE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hipótesis de negocio, definidas antes de mirar los datos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301752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Hipótesis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con los datos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clientes nuevos abandonan más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Validada — efecto alto (antigüedad)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Quien hace un reclamo abandona más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Validada — 3×, efecto medio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 días sin comprar anticipan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DA6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Refutada — relación inversa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cashback / actividad → más churn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 — cashback sí, cupones 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Algunos segmentos abandonan más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2C7A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Validada — categoría y estado civil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12080"/>
            <a:ext cx="11091672" cy="50292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2120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validaron:  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(numéricas) y Chi-cuadrado (categóricas), reportando siempre el tamaño de efecto junto al p-valor. Asociación, no causalidad.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720" y="437228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1  ·  ANTIGÜEDAD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riesgo se concentra en el primer mes de relación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5836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reports/figures/h1_ten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96942"/>
            <a:ext cx="6217920" cy="250419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52360" y="192024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de churn</a:t>
            </a:r>
            <a:r>
              <a:rPr lang="en-US" sz="15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clientes de 0 a 1 mes, contra 6 a 9% en el resto.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2360" y="2880360"/>
          <a:ext cx="4160520" cy="1152144"/>
        </p:xfrm>
        <a:graphic>
          <a:graphicData uri="http://schemas.openxmlformats.org/drawingml/2006/table">
            <a:tbl>
              <a:tblPr/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0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Antigüedad 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Sigue activo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11,3 meses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fue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A6A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 meses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452360" y="4434840"/>
            <a:ext cx="4160520" cy="118872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680960" y="4526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
</a:t>
            </a:r>
            <a:r>
              <a:rPr lang="en-US" sz="12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cliente nuevo todavía no generó hábito ni costo de cambio. El primer mes es la ventana más frágil.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F4D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onboarding y seguimiento activo en las primeras 4 semanas. Confirmar el efecto con un piloto antes de escalar.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21" name="Text 1">
            <a:extLst>
              <a:ext uri="{FF2B5EF4-FFF2-40B4-BE49-F238E27FC236}">
                <a16:creationId xmlns:a16="http://schemas.microsoft.com/office/drawing/2014/main" id="{F69B01F5-A22B-4317-BC09-7D9CBB7ECC08}"/>
              </a:ext>
            </a:extLst>
          </p:cNvPr>
          <p:cNvSpPr/>
          <p:nvPr/>
        </p:nvSpPr>
        <p:spPr>
          <a:xfrm>
            <a:off x="9052720" y="44805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 POR QUÉ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2  ·  EXPERIENCIA Y BENEFICIOS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Reclamos y cashback: dos señales accionables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reports/figures/h2_compl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57019"/>
            <a:ext cx="5212080" cy="19840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Reclamos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153912" y="1828800"/>
            <a:ext cx="54864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reports/figures/h4_cash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759" y="2377440"/>
            <a:ext cx="4457563" cy="3154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Cashback recibido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A6416973-B548-94D6-FC55-0B8E07EE8A8F}"/>
              </a:ext>
            </a:extLst>
          </p:cNvPr>
          <p:cNvSpPr/>
          <p:nvPr/>
        </p:nvSpPr>
        <p:spPr>
          <a:xfrm>
            <a:off x="8988552" y="42976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 POR QUÉ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3  ·  LA SORPRESA DEL DATO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Estar satisfecho no protege contra el abandono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03504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 según satisfacción declarada (1 a 5)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0" y="1828800"/>
            <a:ext cx="4782312" cy="1783080"/>
          </a:xfrm>
          <a:prstGeom prst="rect">
            <a:avLst/>
          </a:prstGeom>
          <a:solidFill>
            <a:srgbClr val="F4D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858000" y="1828800"/>
            <a:ext cx="82296" cy="1783080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086600" y="182880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Contraintuitivo:  </a:t>
            </a: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grupo que se autocalifica con la nota máxima (5) tiene la tasa de churn MÁS alta de toda la escala, no la más baja.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858000" y="3794760"/>
            <a:ext cx="4782312" cy="18745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0" y="3794760"/>
            <a:ext cx="4782312" cy="8229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086600" y="3931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Segmentos con más churn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223760" y="438912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 (categoría)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Solteros (estado civil)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 (medio de pago)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F4D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la satisfacción junto a reclamos y antigüedad; usar los segmentos solo como criterio secundario de priorización.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23" name="Text 1">
            <a:extLst>
              <a:ext uri="{FF2B5EF4-FFF2-40B4-BE49-F238E27FC236}">
                <a16:creationId xmlns:a16="http://schemas.microsoft.com/office/drawing/2014/main" id="{9A9EFB45-BB72-C396-54B2-BDE06C13CDE5}"/>
              </a:ext>
            </a:extLst>
          </p:cNvPr>
          <p:cNvSpPr/>
          <p:nvPr/>
        </p:nvSpPr>
        <p:spPr>
          <a:xfrm>
            <a:off x="8988552" y="4114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Y POR QUÉ</a:t>
            </a:r>
            <a:endParaRPr lang="en-US" sz="1000" dirty="0"/>
          </a:p>
        </p:txBody>
      </p:sp>
      <p:pic>
        <p:nvPicPr>
          <p:cNvPr id="24" name="Picture 23" descr="h6_satisfaction_mosa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147" y="2468880"/>
            <a:ext cx="4612586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DATASET Y VARIABLE OBJETIVO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datos modelamos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0604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97510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5.630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2523744"/>
            <a:ext cx="23865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 de clientes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1828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1828800"/>
            <a:ext cx="2606040" cy="73152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97510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523744"/>
            <a:ext cx="23865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1100" b="0">
                <a:solidFill>
                  <a:srgbClr val="6E7A88"/>
                </a:solidFill>
                <a:latin typeface="Calibri"/>
              </a:rPr>
              <a:t>variables explicativas</a:t>
            </a:r>
          </a:p>
          <a:p>
            <a:pPr algn="ctr"/>
            <a:r>
              <a:rPr sz="1100" b="0">
                <a:solidFill>
                  <a:srgbClr val="6E7A88"/>
                </a:solidFill>
                <a:latin typeface="Calibri"/>
              </a:rPr>
              <a:t>+ CustomerID y Churn</a:t>
            </a:r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60604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828800"/>
            <a:ext cx="2606040" cy="73152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344" y="197510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A6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16,8%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91072" y="2523744"/>
            <a:ext cx="2386584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churn (clase </a:t>
            </a:r>
            <a:r>
              <a:rPr lang="en-US" sz="1100" dirty="0" err="1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</a:p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</a:t>
            </a:r>
            <a:r>
              <a:rPr lang="en-US" sz="1100" dirty="0" err="1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1828800"/>
            <a:ext cx="2642616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97696" y="1828800"/>
            <a:ext cx="2642616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97696" y="1975104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Churn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07424" y="2523744"/>
            <a:ext cx="2423160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binario a predecir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11091672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840480"/>
            <a:ext cx="82296" cy="1783080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977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variables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68680" y="4434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 continuas  — 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CashbackAmount, Tenure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55080" y="44348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Discretas / ordinales  — 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OrderCount, SatisfactionScore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50017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Categóricas nominales  — 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PreferedOrderCat, MaritalStatus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55080" y="500176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Binarias  — 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Complain, Gender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200" b="1">
                <a:solidFill>
                  <a:srgbClr val="DA6A3C"/>
                </a:solidFill>
                <a:latin typeface="Calibri"/>
              </a:rPr>
              <a:t>02  ·  AUDITORÍA, IMPUTACIÓN Y OUTLIERS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700" b="1">
                <a:solidFill>
                  <a:srgbClr val="1C2B3A"/>
                </a:solidFill>
                <a:latin typeface="Georgia"/>
              </a:rPr>
              <a:t>Limpieza reproducible, sin fugas ni borrado automático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2606040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74650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2295144"/>
            <a:ext cx="2386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</a:t>
            </a:r>
            <a:r>
              <a:rPr lang="en-US" sz="1100" dirty="0" err="1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numéricas</a:t>
            </a: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nulos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160020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64992" y="1600200"/>
            <a:ext cx="2606040" cy="73152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64992" y="174650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1.856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2295144"/>
            <a:ext cx="2386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con </a:t>
            </a:r>
            <a:r>
              <a:rPr lang="en-US" sz="1100" dirty="0" err="1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exactamente</a:t>
            </a: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100" dirty="0" err="1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81344" y="1600200"/>
            <a:ext cx="260604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81344" y="1600200"/>
            <a:ext cx="2606040" cy="73152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81344" y="1746504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A6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91072" y="2295144"/>
            <a:ext cx="2386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idénticos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1600200"/>
            <a:ext cx="2642616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97696" y="1600200"/>
            <a:ext cx="2642616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97696" y="1746504"/>
            <a:ext cx="2642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107424" y="229514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 de 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063240"/>
            <a:ext cx="5413248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3063240"/>
            <a:ext cx="5413248" cy="82296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Categorías equivalentes detectadas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657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r>
              <a:rPr lang="en-US" sz="130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68680" y="4114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</a:t>
            </a:r>
            <a:r>
              <a:rPr lang="en-US" sz="130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on Delivery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5720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</a:t>
            </a:r>
            <a:r>
              <a:rPr lang="en-US" sz="130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" y="50292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r>
              <a:rPr lang="en-US" sz="130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Phone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227064" y="3063240"/>
            <a:ext cx="5413248" cy="2606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27064" y="3063240"/>
            <a:ext cx="5413248" cy="8229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01384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1">
                <a:solidFill>
                  <a:srgbClr val="1C2B3A"/>
                </a:solidFill>
                <a:latin typeface="Georgia"/>
              </a:rPr>
              <a:t>Imputación y outliers</a:t>
            </a:r>
          </a:p>
        </p:txBody>
      </p:sp>
      <p:sp>
        <p:nvSpPr>
          <p:cNvPr id="32" name="Text 30"/>
          <p:cNvSpPr/>
          <p:nvPr/>
        </p:nvSpPr>
        <p:spPr>
          <a:xfrm>
            <a:off x="6501384" y="365760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sz="860" b="1">
                <a:solidFill>
                  <a:srgbClr val="1E3A5F"/>
                </a:solidFill>
                <a:latin typeface="Calibri"/>
              </a:rPr>
              <a:t>Mediana - WarehouseToHome, CouponUsed</a:t>
            </a:r>
          </a:p>
          <a:p>
            <a:r>
              <a:rPr sz="860" b="0">
                <a:solidFill>
                  <a:srgbClr val="1C2B3A"/>
                </a:solidFill>
                <a:latin typeface="Calibri"/>
              </a:rPr>
              <a:t>Sin patrón predictivo claro frente al resto de variables</a:t>
            </a:r>
          </a:p>
          <a:p>
            <a:r>
              <a:rPr sz="860" b="0">
                <a:solidFill>
                  <a:srgbClr val="1C2B3A"/>
                </a:solidFill>
                <a:latin typeface="Calibri"/>
              </a:rPr>
              <a:t/>
            </a:r>
          </a:p>
          <a:p>
            <a:r>
              <a:rPr sz="860" b="1">
                <a:solidFill>
                  <a:srgbClr val="1E3A5F"/>
                </a:solidFill>
                <a:latin typeface="Calibri"/>
              </a:rPr>
              <a:t>KNN (k=5, weights=distance) - Tenure, OrderCount, DaySinceLastOrder, HourSpendOnApp, OrderAmountHike</a:t>
            </a:r>
          </a:p>
          <a:p>
            <a:r>
              <a:rPr sz="860" b="0">
                <a:solidFill>
                  <a:srgbClr val="1C2B3A"/>
                </a:solidFill>
                <a:latin typeface="Calibri"/>
              </a:rPr>
              <a:t>Mejor MAE (Mean Absolute Error) frente a Regresión y Mediana</a:t>
            </a:r>
          </a:p>
          <a:p>
            <a:r>
              <a:rPr sz="860" b="0">
                <a:solidFill>
                  <a:srgbClr val="1C2B3A"/>
                </a:solidFill>
                <a:latin typeface="Calibri"/>
              </a:rPr>
              <a:t/>
            </a:r>
          </a:p>
          <a:p>
            <a:r>
              <a:rPr sz="860" b="1">
                <a:solidFill>
                  <a:srgbClr val="1E3A5F"/>
                </a:solidFill>
                <a:latin typeface="Calibri"/>
              </a:rPr>
              <a:t>Outliers - eliminados solo de gráficos del EDA</a:t>
            </a:r>
          </a:p>
          <a:p>
            <a:r>
              <a:rPr sz="860" b="0">
                <a:solidFill>
                  <a:srgbClr val="1C2B3A"/>
                </a:solidFill>
                <a:latin typeface="Calibri"/>
              </a:rPr>
              <a:t>WarehouseToHome: 2 extremos</a:t>
            </a:r>
          </a:p>
          <a:p>
            <a:r>
              <a:rPr sz="860" b="0">
                <a:solidFill>
                  <a:srgbClr val="1C2B3A"/>
                </a:solidFill>
                <a:latin typeface="Calibri"/>
              </a:rPr>
              <a:t>Tenure: 4 extremos</a:t>
            </a:r>
          </a:p>
          <a:p>
            <a:r>
              <a:rPr sz="860" b="0">
                <a:solidFill>
                  <a:srgbClr val="1C2B3A"/>
                </a:solidFill>
                <a:latin typeface="Calibri"/>
              </a:rPr>
              <a:t>DaySinceLastOrder: 1 valor máximo</a:t>
            </a:r>
          </a:p>
        </p:txBody>
      </p:sp>
      <p:sp>
        <p:nvSpPr>
          <p:cNvPr id="33" name="Shape 31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00">
                <a:solidFill>
                  <a:srgbClr val="1C2B3A"/>
                </a:solidFill>
                <a:latin typeface="Calibri"/>
              </a:rPr>
              <a:t>Imputación y escalado se ajustan dentro de cada fold, solo con train: nunca con validación ni test.</a:t>
            </a:r>
          </a:p>
        </p:txBody>
      </p:sp>
      <p:sp>
        <p:nvSpPr>
          <p:cNvPr id="36" name="Shape 34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DA6A3C"/>
                </a:solidFill>
                <a:latin typeface="Calibri"/>
              </a:rPr>
              <a:t>03  ·  SPLIT AGRUPADO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700" b="1">
                <a:solidFill>
                  <a:srgbClr val="1C2B3A"/>
                </a:solidFill>
                <a:latin typeface="Georgia"/>
              </a:rPr>
              <a:t>StratifiedGroupKFold: evaluación más honesta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2290572"/>
            <a:ext cx="5486400" cy="2276856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64891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564891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1">
                <a:solidFill>
                  <a:srgbClr val="1C2B3A"/>
                </a:solidFill>
                <a:latin typeface="Georgia"/>
              </a:rPr>
              <a:t>Cómo definimos el grupo</a:t>
            </a:r>
          </a:p>
        </p:txBody>
      </p:sp>
      <p:sp>
        <p:nvSpPr>
          <p:cNvPr id="9" name="Text 6"/>
          <p:cNvSpPr/>
          <p:nvPr/>
        </p:nvSpPr>
        <p:spPr>
          <a:xfrm>
            <a:off x="868680" y="3296411"/>
            <a:ext cx="5166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"/>
              </a:spcAft>
            </a:pPr>
            <a:r>
              <a:rPr sz="1030" b="1">
                <a:solidFill>
                  <a:srgbClr val="1E3A5F"/>
                </a:solidFill>
                <a:latin typeface="Calibri"/>
              </a:rPr>
              <a:t>StratifiedGroupKFold (5 folds, shuffle=True, random_state=42)</a:t>
            </a:r>
          </a:p>
          <a:p>
            <a:pPr>
              <a:spcAft>
                <a:spcPts val="100"/>
              </a:spcAft>
            </a:pPr>
            <a:r>
              <a:rPr sz="1030" b="0">
                <a:solidFill>
                  <a:srgbClr val="1C2B3A"/>
                </a:solidFill>
                <a:latin typeface="Calibri"/>
              </a:rPr>
              <a:t>Entrena con 4 folds y valida con 1, manteniendo la proporción de churn.</a:t>
            </a:r>
          </a:p>
          <a:p>
            <a:pPr>
              <a:spcAft>
                <a:spcPts val="100"/>
              </a:spcAft>
            </a:pPr>
            <a:r>
              <a:rPr sz="1030" b="0">
                <a:solidFill>
                  <a:srgbClr val="1C2B3A"/>
                </a:solidFill>
                <a:latin typeface="Calibri"/>
              </a:rPr>
              <a:t>Agrupa perfiles equivalentes: no se repiten entre entrenamiento y validación.</a:t>
            </a:r>
          </a:p>
          <a:p>
            <a:pPr>
              <a:spcAft>
                <a:spcPts val="100"/>
              </a:spcAft>
            </a:pPr>
            <a:r>
              <a:rPr sz="1030" b="0">
                <a:solidFill>
                  <a:srgbClr val="1C2B3A"/>
                </a:solidFill>
                <a:latin typeface="Calibri"/>
              </a:rPr>
              <a:t>No usa CustomerID ni Churn para definir los grupos.</a:t>
            </a:r>
          </a:p>
          <a:p>
            <a:pPr>
              <a:spcAft>
                <a:spcPts val="100"/>
              </a:spcAft>
            </a:pPr>
            <a:r>
              <a:rPr sz="1030" b="1">
                <a:solidFill>
                  <a:srgbClr val="1C2B3A"/>
                </a:solidFill>
                <a:latin typeface="Calibri"/>
              </a:rPr>
              <a:t>El test queda cerrado: solo se usa para medir el resultado final.</a:t>
            </a: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828800"/>
          <a:ext cx="5376672" cy="1371600"/>
        </p:xfrm>
        <a:graphic>
          <a:graphicData uri="http://schemas.openxmlformats.org/drawingml/2006/table">
            <a:tbl>
              <a:tblPr/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2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Conjunto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63640" y="3611880"/>
            <a:ext cx="5376672" cy="205740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263640" y="3840480"/>
            <a:ext cx="5376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13" name="Text 9"/>
          <p:cNvSpPr/>
          <p:nvPr/>
        </p:nvSpPr>
        <p:spPr>
          <a:xfrm>
            <a:off x="6263640" y="4754880"/>
            <a:ext cx="5376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perfiles compartidos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entre train y test</a:t>
            </a:r>
          </a:p>
        </p:txBody>
      </p:sp>
      <p:sp>
        <p:nvSpPr>
          <p:cNvPr id="17" name="Shape 13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>
                <a:solidFill>
                  <a:srgbClr val="DA6A3C"/>
                </a:solidFill>
                <a:latin typeface="Calibri"/>
              </a:rPr>
              <a:t>04  ·  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700" b="1">
                <a:solidFill>
                  <a:srgbClr val="1C2B3A"/>
                </a:solidFill>
                <a:latin typeface="Georgia"/>
              </a:rPr>
              <a:t>Tres ratios de intensidad, deterministas y con sentido de negocio</a:t>
            </a:r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29584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3529584" cy="82296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OrdersPerTenure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2980944" cy="548640"/>
          </a:xfrm>
          <a:prstGeom prst="rect">
            <a:avLst/>
          </a:prstGeom>
          <a:solidFill>
            <a:srgbClr val="F6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7432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A6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OrderCount / (Tenure + 1)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 de compra por mes de vida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70248" y="1920240"/>
            <a:ext cx="3529584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70248" y="1920240"/>
            <a:ext cx="3529584" cy="82296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44568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CashbackPerOrder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44568" y="2743200"/>
            <a:ext cx="2980944" cy="548640"/>
          </a:xfrm>
          <a:prstGeom prst="rect">
            <a:avLst/>
          </a:prstGeom>
          <a:solidFill>
            <a:srgbClr val="F6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44568" y="27432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A6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CashbackAmount / (OrderCount + 1)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44568" y="34290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 recibido por pedido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991856" y="1920240"/>
            <a:ext cx="3529584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91856" y="1920240"/>
            <a:ext cx="3529584" cy="82296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266176" y="2194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CouponsPerOrder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266176" y="2743200"/>
            <a:ext cx="2980944" cy="548640"/>
          </a:xfrm>
          <a:prstGeom prst="rect">
            <a:avLst/>
          </a:prstGeom>
          <a:solidFill>
            <a:srgbClr val="F6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66176" y="2743200"/>
            <a:ext cx="29809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A6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CouponUsed / (OrderCount + 1)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66176" y="3429000"/>
            <a:ext cx="2980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cupones por pedido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150" b="1">
                <a:solidFill>
                  <a:srgbClr val="1E3A5F"/>
                </a:solidFill>
                <a:latin typeface="Calibri"/>
              </a:rPr>
              <a:t>Calculadas sin target y por separado en train y test, antes del preprocesamiento del modelo.</a:t>
            </a:r>
          </a:p>
          <a:p>
            <a:pPr algn="ctr"/>
            <a:r>
              <a:rPr sz="1150" b="0">
                <a:solidFill>
                  <a:srgbClr val="1C2B3A"/>
                </a:solidFill>
                <a:latin typeface="Calibri"/>
              </a:rPr>
              <a:t>Miden intensidad relativa del cliente; el +1 evita divisiones por cero.</a:t>
            </a:r>
          </a:p>
        </p:txBody>
      </p:sp>
      <p:sp>
        <p:nvSpPr>
          <p:cNvPr id="29" name="Text 2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2 — EL 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MODELOS E HIPERPARÁMETROS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piso Dummy al ensamble Random Forest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633472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2633472" cy="82296"/>
          </a:xfrm>
          <a:prstGeom prst="rect">
            <a:avLst/>
          </a:prstGeom>
          <a:solidFill>
            <a:srgbClr val="6E7A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57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Dummy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= most_frequent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46704" y="1828800"/>
            <a:ext cx="2633472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46704" y="1828800"/>
            <a:ext cx="2633472" cy="8229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9584" y="2057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Regresión logística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9584" y="274320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 = 0.1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 = balanced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max_iter = 2000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44768" y="1828800"/>
            <a:ext cx="2633472" cy="310896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44768" y="1828800"/>
            <a:ext cx="2633472" cy="82296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27648" y="2057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 de decisión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27648" y="274320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6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min_samples_leaf = 20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C2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 = balanced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42832" y="1828800"/>
            <a:ext cx="2633472" cy="310896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942832" y="1828800"/>
            <a:ext cx="2633472" cy="82296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25712" y="2057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25712" y="2670048"/>
            <a:ext cx="2267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125712" y="3017520"/>
            <a:ext cx="22677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n_estimators = 300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 = 12 · max_features = 0.5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max_samples = 0.7</a:t>
            </a:r>
            <a:endParaRPr lang="en-US" sz="10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C9D4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 = {0:1, 1:5}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Ajuste:  </a:t>
            </a:r>
            <a:r>
              <a:rPr lang="en-US" sz="12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modelos se tunearon con GridSearchCV sobre los mismos folds agrupados, optimizando F2.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MÉTRICAS DE EVALUACIÓN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 prioriza recall sobre precisión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solidFill>
            <a:srgbClr val="F6F3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A6A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F2 = 5 · (P · R) / (4 · P + 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= TP / (TP + FN)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= TP / (TP + FP)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beta = 2, el recall pesa 4× la precisión en la fórmula.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Complementarias: F1, PR-AUC, ROC-AUC, cantidad de alertas.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76672" cy="3749040"/>
          </a:xfrm>
          <a:prstGeom prst="rect">
            <a:avLst/>
          </a:prstGeom>
          <a:solidFill>
            <a:srgbClr val="1E3A5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5376672" cy="82296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37960" y="21488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decisión de negocio detrás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7432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Perder un cliente sin avisar cuesta más que molestar a uno con un contacto de más.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39319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priorizamos no dejar pasar churns reales (recall), aun a costa de algunas falsas alertas. PR-AUC es clave por el desbalance (17% de positivos).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métrica no es un capricho técnico: traduce qué tipo de error le duele más al negocio.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2 — EL 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SENSIBILIDAD TEMPORAL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Excluir señales que el modelo no debería ver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766560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Complain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DaySinceLastOrder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ambas  (final)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D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543800" y="1874520"/>
            <a:ext cx="4096512" cy="2649354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543800" y="1874520"/>
            <a:ext cx="4096512" cy="82296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A6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Decisión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772400" y="256032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el reclamo (Complain) es una señal de negocio fuerte, lo excluimos —junto con DaySinceLastOrder— del modelo final: no podemos garantizar que se registraran antes del churn.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0" y="37216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Medido sobre Random Forest, el modelo más reactivo a ambas.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F4D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Resignamos performance a propósito: el modelo tiene que ser válido en producción, no solo en el papel.</a:t>
            </a:r>
            <a:endParaRPr lang="en-US" sz="1250" dirty="0"/>
          </a:p>
        </p:txBody>
      </p:sp>
      <p:sp>
        <p:nvSpPr>
          <p:cNvPr id="6" name="Shape 12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 2 — EL 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COMPARACIÓN DE MODELOS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6504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qué elegimos Random Forest</a:t>
            </a:r>
            <a:endParaRPr lang="en-US" sz="27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806053"/>
              </p:ext>
            </p:extLst>
          </p:nvPr>
        </p:nvGraphicFramePr>
        <p:xfrm>
          <a:off x="548640" y="2209800"/>
          <a:ext cx="11091672" cy="2148840"/>
        </p:xfrm>
        <a:graphic>
          <a:graphicData uri="http://schemas.openxmlformats.org/drawingml/2006/table">
            <a:tbl>
              <a:tblPr/>
              <a:tblGrid>
                <a:gridCol w="1848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86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Dummy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Regresión logística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Árbol de decisión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 (final)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6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541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fuera de fold (OOF), umbral 0,50, modelos tuneados.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el modelo que ordena mejor el riesgo: misma detección, la mitad de contactos en vano.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6" name="Text 13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AJUSTE DE UMBRAL Y TEST FINAL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Umbral 0,27 </a:t>
            </a:r>
            <a:r>
              <a:rPr lang="en-US" sz="2700" b="1" dirty="0" err="1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congelado</a:t>
            </a: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antes de ver el test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457200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reports/figures/final_test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011680"/>
            <a:ext cx="4169664" cy="3474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40680" y="2834640"/>
            <a:ext cx="1993392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40680" y="2834640"/>
            <a:ext cx="1993392" cy="73152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40680" y="298094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A6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0,817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550408" y="3529584"/>
            <a:ext cx="1773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en test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16952" y="2834640"/>
            <a:ext cx="1993392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616952" y="2834640"/>
            <a:ext cx="1993392" cy="73152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16952" y="298094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91,1%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726680" y="3529584"/>
            <a:ext cx="177393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793224" y="2834640"/>
            <a:ext cx="1847088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9793224" y="2834640"/>
            <a:ext cx="1847088" cy="73152"/>
          </a:xfrm>
          <a:prstGeom prst="rect">
            <a:avLst/>
          </a:prstGeom>
          <a:solidFill>
            <a:srgbClr val="1E3A5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793224" y="298094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57,9%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9902952" y="3529584"/>
            <a:ext cx="162763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9 de cada 10 clientes que se iban (173 de 190), cumpliendo el objetivo de no perder clientes en riesgo.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INTERPRETABILIDAD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mira el modelo para decidir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690372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reports/figures/final_interpretability_com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33" y="2011680"/>
            <a:ext cx="6414333" cy="3474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Permutación + SHAP coinciden: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680960" y="2423160"/>
            <a:ext cx="39319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OrdersPerTenure  (derivada)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CashbackPerOrder  (derivada)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CashbackAmount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 preferida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680960" y="4572000"/>
            <a:ext cx="3959352" cy="109728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863840" y="457200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variables derivadas y Tenure están entre las más importantes: el modelo confirma y pondera los hallazgos de negocio del Acto 1.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D6E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palancas comerciales que siguen tienen respaldo estadístico, no son intuición.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AHORA QUÉ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HALLAZGOS A LA ACCIÓN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Cinco palancas comerciales con respaldo</a:t>
            </a:r>
            <a:endParaRPr lang="en-US" sz="27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3401568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6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del modelo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indica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Palanca comercial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 bajo (0-1 mes)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Mayor riesgo en el primer 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 y seguimiento activo en las 4 primeras semanas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Reclamo reciente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 de irse 3 veces mayor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 de recuperación dentro de las 48-72h post-reclamo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Cashback bajo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Asociado a menor permanencia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 de cashback reforzado en clientes de riesgo (no masivo)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 frecuencia de compra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Vínculo transaccional débil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Incentivo o recordatorio de recompra para reactivar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Phone / Solteros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Segmentos con más churn relativo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C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 secundario de priorización, nunca filtro único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870448"/>
            <a:ext cx="11091672" cy="548640"/>
          </a:xfrm>
          <a:prstGeom prst="rect">
            <a:avLst/>
          </a:prstGeom>
          <a:solidFill>
            <a:srgbClr val="F4DD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" y="5870448"/>
            <a:ext cx="82296" cy="548640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58704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negocio:  </a:t>
            </a:r>
            <a:r>
              <a:rPr lang="en-US" sz="1250" i="1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asociaciones no prueban causalidad: antes de escalar cualquier palanca, validar con un piloto controlado.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88552" y="420624"/>
            <a:ext cx="2651760" cy="292608"/>
          </a:xfrm>
          <a:prstGeom prst="roundRect">
            <a:avLst>
              <a:gd name="adj" fmla="val 50000"/>
            </a:avLst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988552" y="4206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AHORA QUÉ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A6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HONESTOS CON LOS LÍMITES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Limitaciones y próximos pasos antes de escalar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1324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413248" cy="82296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A6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Limitaciones a tener en cuenta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 58%, no de 100%: de cada 10 alertas, casi 6 son churn real.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no es causalidad: hay que medir el efecto con pilotos.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Reclamos sin temporalidad confirmada: por eso se excluyeron del modelo.</a:t>
            </a:r>
            <a:endParaRPr lang="en-US" sz="13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limitada en el tiempo: requiere monitoreo y recalibración.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27064" y="1874520"/>
            <a:ext cx="5413248" cy="37490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9A8F77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27064" y="1874520"/>
            <a:ext cx="5413248" cy="82296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2121408"/>
            <a:ext cx="365760" cy="3657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95160" y="21031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Próximos pasos del negocio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01384" y="2606040"/>
            <a:ext cx="49377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costo de un contacto y de perder un cliente (fija el umbral óptimo).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la capacidad semanal del equipo comercial.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temporalidad de los reclamos.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pilotos de onboarding y cashback antes de escalar.</a:t>
            </a:r>
            <a:endParaRPr lang="en-US" sz="13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35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Monitorear el modelo en producción.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6510528"/>
            <a:ext cx="11091672" cy="0"/>
          </a:xfrm>
          <a:prstGeom prst="line">
            <a:avLst/>
          </a:prstGeom>
          <a:noFill/>
          <a:ln w="12700">
            <a:solidFill>
              <a:srgbClr val="D9D3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4864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se nos van los clientes  ·  Grupo 1  ·  IA aplicada a negocios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348472" y="65288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292608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riesgo no es aleatorio: lo anticipamos</a:t>
            </a:r>
            <a:endParaRPr lang="en-US" sz="38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lo priorizamos para actuar a tiempo.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3520440" cy="1600200"/>
          </a:xfrm>
          <a:prstGeom prst="rect">
            <a:avLst/>
          </a:prstGeom>
          <a:solidFill>
            <a:srgbClr val="1B3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20440" cy="73152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173 / 190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4224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churns detectados a tiempo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51960" y="3246120"/>
            <a:ext cx="3520440" cy="1600200"/>
          </a:xfrm>
          <a:prstGeom prst="rect">
            <a:avLst/>
          </a:prstGeom>
          <a:solidFill>
            <a:srgbClr val="1B3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51960" y="3246120"/>
            <a:ext cx="3520440" cy="73152"/>
          </a:xfrm>
          <a:prstGeom prst="rect">
            <a:avLst/>
          </a:prstGeom>
          <a:solidFill>
            <a:srgbClr val="2C7A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51960" y="34747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434840" y="4224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palancas comerciales con respaldo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55280" y="3246120"/>
            <a:ext cx="3520440" cy="1600200"/>
          </a:xfrm>
          <a:prstGeom prst="rect">
            <a:avLst/>
          </a:prstGeom>
          <a:solidFill>
            <a:srgbClr val="1B3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55280" y="3246120"/>
            <a:ext cx="3520440" cy="73152"/>
          </a:xfrm>
          <a:prstGeom prst="rect">
            <a:avLst/>
          </a:prstGeom>
          <a:solidFill>
            <a:srgbClr val="5E80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55280" y="34747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138160" y="42245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pendientes antes de escalar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1B32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82296" cy="914400"/>
          </a:xfrm>
          <a:prstGeom prst="rect">
            <a:avLst/>
          </a:prstGeom>
          <a:solidFill>
            <a:srgbClr val="DA6A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pipeline reproducible y honesto: prioriza no perder clientes en riesgo y deja la calibración económica al negocio.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8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  ·  IA aplicada a negocios  ·  Junio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2070</Words>
  <Application>Microsoft Office PowerPoint</Application>
  <PresentationFormat>Widescreen</PresentationFormat>
  <Paragraphs>356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 que se nos van los clientes, y que hacer al respecto</dc:title>
  <dc:subject>PptxGenJS Presentation</dc:subject>
  <dc:creator>Grupo 1</dc:creator>
  <cp:lastModifiedBy>Susana Ishida</cp:lastModifiedBy>
  <cp:revision>3</cp:revision>
  <dcterms:created xsi:type="dcterms:W3CDTF">2026-06-18T20:40:01Z</dcterms:created>
  <dcterms:modified xsi:type="dcterms:W3CDTF">2026-06-18T21:21:52Z</dcterms:modified>
</cp:coreProperties>
</file>
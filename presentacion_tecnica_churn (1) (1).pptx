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iIB3iPZGL+qdJR9v7HpksxM82p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ADFBC55-9A76-4699-927D-57125D9DC0BA}">
  <a:tblStyle styleId="{1ADFBC55-9A76-4699-927D-57125D9DC0B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619BD92B-D55E-4E1C-A2CB-E358C4518BFC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AA0A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A51-4717-AA30-30489A4FDB61}"/>
              </c:ext>
            </c:extLst>
          </c:dPt>
          <c:dPt>
            <c:idx val="1"/>
            <c:bubble3D val="0"/>
            <c:spPr>
              <a:solidFill>
                <a:srgbClr val="E883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A51-4717-AA30-30489A4FDB61}"/>
              </c:ext>
            </c:extLst>
          </c:dPt>
          <c:cat>
            <c:strRef>
              <c:f>Sheet1!$A$2:$A$3</c:f>
              <c:strCache>
                <c:ptCount val="2"/>
                <c:pt idx="0">
                  <c:v>Churn = 0 (4.682)</c:v>
                </c:pt>
                <c:pt idx="1">
                  <c:v>Churn = 1 (948)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83.2</c:v>
                </c:pt>
                <c:pt idx="1">
                  <c:v>16.8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A51-4717-AA30-30489A4FDB6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F2D34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" name="Google Shape;59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6" name="Google Shape;156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5" name="Google Shape;185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0" name="Google Shape;220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5" name="Google Shape;235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0" name="Google Shape;250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8" name="Google Shape;268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f197388dee_0_3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g3f197388dee_0_3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9" name="Google Shape;299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2A38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E8833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1005840" y="137160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A0AB"/>
              </a:buClr>
              <a:buSzPts val="1500"/>
              <a:buFont typeface="Trebuchet MS"/>
              <a:buNone/>
            </a:pPr>
            <a:r>
              <a:rPr b="1" lang="en-US" sz="1500">
                <a:solidFill>
                  <a:srgbClr val="1AA0AB"/>
                </a:solidFill>
                <a:latin typeface="Trebuchet MS"/>
                <a:ea typeface="Trebuchet MS"/>
                <a:cs typeface="Trebuchet MS"/>
                <a:sym typeface="Trebuchet MS"/>
              </a:rPr>
              <a:t>PRESENTACION TECNICA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960120" y="1828800"/>
            <a:ext cx="10058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Trebuchet MS"/>
              <a:buNone/>
            </a:pPr>
            <a:r>
              <a:rPr b="1" lang="en-US" sz="5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Pipeline de clasificacion</a:t>
            </a:r>
            <a:endParaRPr sz="5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Trebuchet MS"/>
              <a:buNone/>
            </a:pPr>
            <a:r>
              <a:rPr b="1" lang="en-US" sz="5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de churn</a:t>
            </a:r>
            <a:endParaRPr sz="5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1005840" y="3886200"/>
            <a:ext cx="8869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7DD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C7D7DD"/>
                </a:solidFill>
                <a:latin typeface="Calibri"/>
                <a:ea typeface="Calibri"/>
                <a:cs typeface="Calibri"/>
                <a:sym typeface="Calibri"/>
              </a:rPr>
              <a:t>Deteccion de clientes en riesgo con validacion agrupada, control de leakage y seleccion reproducible de modelos.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1005840" y="5074920"/>
            <a:ext cx="1664208" cy="457200"/>
          </a:xfrm>
          <a:prstGeom prst="roundRect">
            <a:avLst>
              <a:gd fmla="val 50000" name="adj"/>
            </a:avLst>
          </a:prstGeom>
          <a:solidFill>
            <a:srgbClr val="10394B"/>
          </a:solidFill>
          <a:ln cap="flat" cmpd="sng" w="12700">
            <a:solidFill>
              <a:srgbClr val="0E7C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1005840" y="5074920"/>
            <a:ext cx="166420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FEDF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DFEDF0"/>
                </a:solidFill>
                <a:latin typeface="Calibri"/>
                <a:ea typeface="Calibri"/>
                <a:cs typeface="Calibri"/>
                <a:sym typeface="Calibri"/>
              </a:rPr>
              <a:t>5.630 clientes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2898648" y="5074920"/>
            <a:ext cx="1376172" cy="457200"/>
          </a:xfrm>
          <a:prstGeom prst="roundRect">
            <a:avLst>
              <a:gd fmla="val 50000" name="adj"/>
            </a:avLst>
          </a:prstGeom>
          <a:solidFill>
            <a:srgbClr val="10394B"/>
          </a:solidFill>
          <a:ln cap="flat" cmpd="sng" w="12700">
            <a:solidFill>
              <a:srgbClr val="0E7C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2898648" y="5074920"/>
            <a:ext cx="13761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FEDF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DFEDF0"/>
                </a:solidFill>
                <a:latin typeface="Calibri"/>
                <a:ea typeface="Calibri"/>
                <a:cs typeface="Calibri"/>
                <a:sym typeface="Calibri"/>
              </a:rPr>
              <a:t>16,8% churn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503420" y="5074920"/>
            <a:ext cx="2144268" cy="457200"/>
          </a:xfrm>
          <a:prstGeom prst="roundRect">
            <a:avLst>
              <a:gd fmla="val 50000" name="adj"/>
            </a:avLst>
          </a:prstGeom>
          <a:solidFill>
            <a:srgbClr val="10394B"/>
          </a:solidFill>
          <a:ln cap="flat" cmpd="sng" w="12700">
            <a:solidFill>
              <a:srgbClr val="0E7C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503420" y="5074920"/>
            <a:ext cx="21442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FEDF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DFEDF0"/>
                </a:solidFill>
                <a:latin typeface="Calibri"/>
                <a:ea typeface="Calibri"/>
                <a:cs typeface="Calibri"/>
                <a:sym typeface="Calibri"/>
              </a:rPr>
              <a:t>Validacion agrupada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6876288" y="5074920"/>
            <a:ext cx="3008376" cy="457200"/>
          </a:xfrm>
          <a:prstGeom prst="roundRect">
            <a:avLst>
              <a:gd fmla="val 50000" name="adj"/>
            </a:avLst>
          </a:prstGeom>
          <a:solidFill>
            <a:srgbClr val="10394B"/>
          </a:solidFill>
          <a:ln cap="flat" cmpd="sng" w="12700">
            <a:solidFill>
              <a:srgbClr val="0E7C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6876288" y="5074920"/>
            <a:ext cx="30083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FEDF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DFEDF0"/>
                </a:solidFill>
                <a:latin typeface="Calibri"/>
                <a:ea typeface="Calibri"/>
                <a:cs typeface="Calibri"/>
                <a:sym typeface="Calibri"/>
              </a:rPr>
              <a:t>Modelo final: Random Forest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1005840" y="603504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3AC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8AA3AC"/>
                </a:solidFill>
                <a:latin typeface="Calibri"/>
                <a:ea typeface="Calibri"/>
                <a:cs typeface="Calibri"/>
                <a:sym typeface="Calibri"/>
              </a:rPr>
              <a:t>ITBA · IA aplicada a negocios · Grupo 1 · 2026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9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fmla="val 16129" name="adj"/>
            </a:avLst>
          </a:prstGeom>
          <a:solidFill>
            <a:srgbClr val="0E7C8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b="1" lang="en-US"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1280160" y="457200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150"/>
              <a:buFont typeface="Trebuchet MS"/>
              <a:buNone/>
            </a:pPr>
            <a:r>
              <a:rPr b="1" lang="en-US" sz="1150">
                <a:solidFill>
                  <a:srgbClr val="0E7C86"/>
                </a:solidFill>
                <a:latin typeface="Trebuchet MS"/>
                <a:ea typeface="Trebuchet MS"/>
                <a:cs typeface="Trebuchet MS"/>
                <a:sym typeface="Trebuchet MS"/>
              </a:rPr>
              <a:t>DATASET Y VARIABLE OBJETIVO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1280160" y="694944"/>
            <a:ext cx="1036289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34"/>
              </a:buClr>
              <a:buSzPts val="2700"/>
              <a:buFont typeface="Trebuchet MS"/>
              <a:buNone/>
            </a:pPr>
            <a:r>
              <a:rPr b="1" lang="en-US" sz="2700">
                <a:solidFill>
                  <a:srgbClr val="1F2D34"/>
                </a:solidFill>
                <a:latin typeface="Trebuchet MS"/>
                <a:ea typeface="Trebuchet MS"/>
                <a:cs typeface="Trebuchet MS"/>
                <a:sym typeface="Trebuchet MS"/>
              </a:rPr>
              <a:t>5.630 clientes, target Churn binario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7A8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A7A82"/>
                </a:solidFill>
                <a:latin typeface="Calibri"/>
                <a:ea typeface="Calibri"/>
                <a:cs typeface="Calibri"/>
                <a:sym typeface="Calibri"/>
              </a:rPr>
              <a:t>Pipeline de clasificacion de churn  ·  Grupo 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A7A8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A7A82"/>
                </a:solidFill>
                <a:latin typeface="Calibri"/>
                <a:ea typeface="Calibri"/>
                <a:cs typeface="Calibri"/>
                <a:sym typeface="Calibri"/>
              </a:rPr>
              <a:t>1 / 11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548640" y="1783080"/>
            <a:ext cx="2743200" cy="12344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E6E9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E2A38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548640" y="1874520"/>
            <a:ext cx="2743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3800"/>
              <a:buFont typeface="Trebuchet MS"/>
              <a:buNone/>
            </a:pPr>
            <a:r>
              <a:rPr b="1" lang="en-US" sz="3800">
                <a:solidFill>
                  <a:srgbClr val="0E7C86"/>
                </a:solidFill>
                <a:latin typeface="Trebuchet MS"/>
                <a:ea typeface="Trebuchet MS"/>
                <a:cs typeface="Trebuchet MS"/>
                <a:sym typeface="Trebuchet MS"/>
              </a:rPr>
              <a:t>5.630</a:t>
            </a:r>
            <a:endParaRPr sz="3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548640" y="260604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A7A82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A7A82"/>
                </a:solidFill>
                <a:latin typeface="Calibri"/>
                <a:ea typeface="Calibri"/>
                <a:cs typeface="Calibri"/>
                <a:sym typeface="Calibri"/>
              </a:rPr>
              <a:t>observaciones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3474720" y="1783080"/>
            <a:ext cx="2743200" cy="12344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E6E9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E2A38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3474720" y="1874520"/>
            <a:ext cx="2743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3800"/>
              <a:buFont typeface="Trebuchet MS"/>
              <a:buNone/>
            </a:pPr>
            <a:r>
              <a:rPr b="1" lang="en-US" sz="3800">
                <a:solidFill>
                  <a:srgbClr val="0E7C86"/>
                </a:solidFill>
                <a:latin typeface="Trebuchet MS"/>
                <a:ea typeface="Trebuchet MS"/>
                <a:cs typeface="Trebuchet MS"/>
                <a:sym typeface="Trebuchet MS"/>
              </a:rPr>
              <a:t>20</a:t>
            </a:r>
            <a:endParaRPr sz="3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3474720" y="260604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A7A82"/>
              </a:buClr>
              <a:buSzPts val="1200"/>
              <a:buFont typeface="Calibri"/>
              <a:buNone/>
            </a:pPr>
            <a:r>
              <a:rPr b="0" lang="en-US" sz="1200">
                <a:solidFill>
                  <a:srgbClr val="6A7A82"/>
                </a:solidFill>
                <a:latin typeface="Calibri"/>
                <a:ea typeface="Calibri"/>
                <a:cs typeface="Calibri"/>
                <a:sym typeface="Calibri"/>
              </a:rPr>
              <a:t>columnas totales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6A7A82"/>
                </a:solidFill>
                <a:latin typeface="Calibri"/>
                <a:ea typeface="Calibri"/>
                <a:cs typeface="Calibri"/>
                <a:sym typeface="Calibri"/>
              </a:rPr>
              <a:t>18 explicativas + ID + target</a:t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6400800" y="1783080"/>
            <a:ext cx="2743200" cy="12344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E6E9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E2A38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6400800" y="1874520"/>
            <a:ext cx="2743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3800"/>
              <a:buFont typeface="Trebuchet MS"/>
              <a:buNone/>
            </a:pPr>
            <a:r>
              <a:rPr b="1" lang="en-US" sz="3800">
                <a:solidFill>
                  <a:srgbClr val="0E7C86"/>
                </a:solidFill>
                <a:latin typeface="Trebuchet MS"/>
                <a:ea typeface="Trebuchet MS"/>
                <a:cs typeface="Trebuchet MS"/>
                <a:sym typeface="Trebuchet MS"/>
              </a:rPr>
              <a:t>16,8%</a:t>
            </a:r>
            <a:endParaRPr sz="3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6400800" y="260604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A7A82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A7A82"/>
                </a:solidFill>
                <a:latin typeface="Calibri"/>
                <a:ea typeface="Calibri"/>
                <a:cs typeface="Calibri"/>
                <a:sym typeface="Calibri"/>
              </a:rPr>
              <a:t>clientes con churn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6" name="Google Shape;46;p2"/>
          <p:cNvGraphicFramePr/>
          <p:nvPr/>
        </p:nvGraphicFramePr>
        <p:xfrm>
          <a:off x="8869680" y="1645920"/>
          <a:ext cx="2926080" cy="283464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47" name="Google Shape;47;p2"/>
          <p:cNvSpPr/>
          <p:nvPr/>
        </p:nvSpPr>
        <p:spPr>
          <a:xfrm>
            <a:off x="548640" y="3200400"/>
            <a:ext cx="8412480" cy="1783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E6E9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E2A38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777240" y="331012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34"/>
              </a:buClr>
              <a:buSzPts val="1400"/>
              <a:buFont typeface="Trebuchet MS"/>
              <a:buNone/>
            </a:pPr>
            <a:r>
              <a:rPr b="1" lang="en-US" sz="1400">
                <a:solidFill>
                  <a:srgbClr val="1F2D34"/>
                </a:solidFill>
                <a:latin typeface="Trebuchet MS"/>
                <a:ea typeface="Trebuchet MS"/>
                <a:cs typeface="Trebuchet MS"/>
                <a:sym typeface="Trebuchet MS"/>
              </a:rPr>
              <a:t>Tipos de variables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822960" y="3749040"/>
            <a:ext cx="109728" cy="36576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1051560" y="370332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34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F2D34"/>
                </a:solidFill>
                <a:latin typeface="Calibri"/>
                <a:ea typeface="Calibri"/>
                <a:cs typeface="Calibri"/>
                <a:sym typeface="Calibri"/>
              </a:rPr>
              <a:t>Numéricas continuas  </a:t>
            </a:r>
            <a:r>
              <a:rPr lang="en-US" sz="1050">
                <a:solidFill>
                  <a:srgbClr val="6A7A82"/>
                </a:solidFill>
                <a:latin typeface="Calibri"/>
                <a:ea typeface="Calibri"/>
                <a:cs typeface="Calibri"/>
                <a:sym typeface="Calibri"/>
              </a:rPr>
              <a:t>p. ej. CashbackAmount, Tenure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4937760" y="3749040"/>
            <a:ext cx="109728" cy="36576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5166360" y="370332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34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F2D34"/>
                </a:solidFill>
                <a:latin typeface="Calibri"/>
                <a:ea typeface="Calibri"/>
                <a:cs typeface="Calibri"/>
                <a:sym typeface="Calibri"/>
              </a:rPr>
              <a:t>Numéricas discretas / ordinales  </a:t>
            </a:r>
            <a:r>
              <a:rPr lang="en-US" sz="1050">
                <a:solidFill>
                  <a:srgbClr val="6A7A82"/>
                </a:solidFill>
                <a:latin typeface="Calibri"/>
                <a:ea typeface="Calibri"/>
                <a:cs typeface="Calibri"/>
                <a:sym typeface="Calibri"/>
              </a:rPr>
              <a:t>OrderCount, SatisfactionScore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822960" y="4315968"/>
            <a:ext cx="109728" cy="36576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1051560" y="4270248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34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F2D34"/>
                </a:solidFill>
                <a:latin typeface="Calibri"/>
                <a:ea typeface="Calibri"/>
                <a:cs typeface="Calibri"/>
                <a:sym typeface="Calibri"/>
              </a:rPr>
              <a:t>Categóricas nominales  </a:t>
            </a:r>
            <a:r>
              <a:rPr lang="en-US" sz="1050">
                <a:solidFill>
                  <a:srgbClr val="6A7A82"/>
                </a:solidFill>
                <a:latin typeface="Calibri"/>
                <a:ea typeface="Calibri"/>
                <a:cs typeface="Calibri"/>
                <a:sym typeface="Calibri"/>
              </a:rPr>
              <a:t>PreferedOrderCat, MaritalStatus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4937760" y="4315968"/>
            <a:ext cx="109728" cy="36576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5166360" y="4270248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34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F2D34"/>
                </a:solidFill>
                <a:latin typeface="Calibri"/>
                <a:ea typeface="Calibri"/>
                <a:cs typeface="Calibri"/>
                <a:sym typeface="Calibri"/>
              </a:rPr>
              <a:t>Binarias  </a:t>
            </a:r>
            <a:r>
              <a:rPr lang="en-US" sz="1050">
                <a:solidFill>
                  <a:srgbClr val="6A7A82"/>
                </a:solidFill>
                <a:latin typeface="Calibri"/>
                <a:ea typeface="Calibri"/>
                <a:cs typeface="Calibri"/>
                <a:sym typeface="Calibri"/>
              </a:rPr>
              <a:t>Complain, Gender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9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"/>
          <p:cNvSpPr/>
          <p:nvPr/>
        </p:nvSpPr>
        <p:spPr>
          <a:xfrm>
            <a:off x="8054959" y="1426464"/>
            <a:ext cx="1673352" cy="9875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E6E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fmla="val 16129" name="adj"/>
            </a:avLst>
          </a:prstGeom>
          <a:solidFill>
            <a:srgbClr val="0E7C8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b="1" lang="en-US"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1280160" y="457200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150"/>
              <a:buFont typeface="Trebuchet MS"/>
              <a:buNone/>
            </a:pPr>
            <a:r>
              <a:rPr b="1" lang="en-US" sz="1150">
                <a:solidFill>
                  <a:srgbClr val="0E7C86"/>
                </a:solidFill>
                <a:latin typeface="Trebuchet MS"/>
                <a:ea typeface="Trebuchet MS"/>
                <a:cs typeface="Trebuchet MS"/>
                <a:sym typeface="Trebuchet MS"/>
              </a:rPr>
              <a:t>AUDITORÍA, IMPUTACIÓN Y OUTLIERS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1280160" y="694944"/>
            <a:ext cx="1036289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34"/>
              </a:buClr>
              <a:buSzPts val="2550"/>
              <a:buFont typeface="Trebuchet MS"/>
              <a:buNone/>
            </a:pPr>
            <a:r>
              <a:rPr b="1" lang="en-US" sz="2550">
                <a:solidFill>
                  <a:srgbClr val="1F2D34"/>
                </a:solidFill>
                <a:latin typeface="Trebuchet MS"/>
                <a:ea typeface="Trebuchet MS"/>
                <a:cs typeface="Trebuchet MS"/>
                <a:sym typeface="Trebuchet MS"/>
              </a:rPr>
              <a:t>Nulos, duplicados, categorías equivalentes, imputación y outliers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7A8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A7A82"/>
                </a:solidFill>
                <a:latin typeface="Calibri"/>
                <a:ea typeface="Calibri"/>
                <a:cs typeface="Calibri"/>
                <a:sym typeface="Calibri"/>
              </a:rPr>
              <a:t>Pipeline de clasificacion de churn  ·  Grupo 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A7A8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A7A82"/>
                </a:solidFill>
                <a:latin typeface="Calibri"/>
                <a:ea typeface="Calibri"/>
                <a:cs typeface="Calibri"/>
                <a:sym typeface="Calibri"/>
              </a:rPr>
              <a:t>3 / 11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548640" y="1417320"/>
            <a:ext cx="2423160" cy="9875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E6E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 txBox="1"/>
          <p:nvPr/>
        </p:nvSpPr>
        <p:spPr>
          <a:xfrm>
            <a:off x="548640" y="1563624"/>
            <a:ext cx="2423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E8833A"/>
                </a:solidFill>
                <a:latin typeface="Trebuchet MS"/>
                <a:ea typeface="Trebuchet MS"/>
                <a:cs typeface="Trebuchet MS"/>
                <a:sym typeface="Trebuchet MS"/>
              </a:rPr>
              <a:t>1.856</a:t>
            </a:r>
            <a:endParaRPr/>
          </a:p>
        </p:txBody>
      </p:sp>
      <p:sp>
        <p:nvSpPr>
          <p:cNvPr id="71" name="Google Shape;71;p3"/>
          <p:cNvSpPr txBox="1"/>
          <p:nvPr/>
        </p:nvSpPr>
        <p:spPr>
          <a:xfrm>
            <a:off x="640080" y="2029968"/>
            <a:ext cx="2240279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40">
                <a:solidFill>
                  <a:srgbClr val="1F2D34"/>
                </a:solidFill>
                <a:latin typeface="Calibri"/>
                <a:ea typeface="Calibri"/>
                <a:cs typeface="Calibri"/>
                <a:sym typeface="Calibri"/>
              </a:rPr>
              <a:t>filas con exactamente un nulo</a:t>
            </a:r>
            <a:endParaRPr/>
          </a:p>
        </p:txBody>
      </p:sp>
      <p:sp>
        <p:nvSpPr>
          <p:cNvPr id="72" name="Google Shape;72;p3"/>
          <p:cNvSpPr txBox="1"/>
          <p:nvPr/>
        </p:nvSpPr>
        <p:spPr>
          <a:xfrm>
            <a:off x="685800" y="2219888"/>
            <a:ext cx="2148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40">
                <a:solidFill>
                  <a:srgbClr val="6A7A82"/>
                </a:solidFill>
                <a:latin typeface="Calibri"/>
                <a:ea typeface="Calibri"/>
                <a:cs typeface="Calibri"/>
                <a:sym typeface="Calibri"/>
              </a:rPr>
              <a:t>1 faltante por fila</a:t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3154680" y="1417320"/>
            <a:ext cx="2423160" cy="9875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E6E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 txBox="1"/>
          <p:nvPr/>
        </p:nvSpPr>
        <p:spPr>
          <a:xfrm>
            <a:off x="3154680" y="1563624"/>
            <a:ext cx="2423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E8833A"/>
                </a:solidFill>
                <a:latin typeface="Trebuchet MS"/>
                <a:ea typeface="Trebuchet MS"/>
                <a:cs typeface="Trebuchet MS"/>
                <a:sym typeface="Trebuchet MS"/>
              </a:rPr>
              <a:t>556</a:t>
            </a:r>
            <a:endParaRPr/>
          </a:p>
        </p:txBody>
      </p:sp>
      <p:sp>
        <p:nvSpPr>
          <p:cNvPr id="75" name="Google Shape;75;p3"/>
          <p:cNvSpPr txBox="1"/>
          <p:nvPr/>
        </p:nvSpPr>
        <p:spPr>
          <a:xfrm>
            <a:off x="3246120" y="2029968"/>
            <a:ext cx="2240279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40">
                <a:solidFill>
                  <a:srgbClr val="1F2D34"/>
                </a:solidFill>
                <a:latin typeface="Calibri"/>
                <a:ea typeface="Calibri"/>
                <a:cs typeface="Calibri"/>
                <a:sym typeface="Calibri"/>
              </a:rPr>
              <a:t>filas con features identicas</a:t>
            </a:r>
            <a:endParaRPr/>
          </a:p>
        </p:txBody>
      </p:sp>
      <p:sp>
        <p:nvSpPr>
          <p:cNvPr id="76" name="Google Shape;76;p3"/>
          <p:cNvSpPr txBox="1"/>
          <p:nvPr/>
        </p:nvSpPr>
        <p:spPr>
          <a:xfrm>
            <a:off x="3273552" y="2197917"/>
            <a:ext cx="2148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40">
                <a:solidFill>
                  <a:srgbClr val="6A7A82"/>
                </a:solidFill>
                <a:latin typeface="Calibri"/>
                <a:ea typeface="Calibri"/>
                <a:cs typeface="Calibri"/>
                <a:sym typeface="Calibri"/>
              </a:rPr>
              <a:t>perfiles duplicados</a:t>
            </a:r>
            <a:endParaRPr b="0" i="0" sz="840">
              <a:solidFill>
                <a:srgbClr val="6A7A8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5760720" y="1417320"/>
            <a:ext cx="2057400" cy="9875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E6E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 txBox="1"/>
          <p:nvPr/>
        </p:nvSpPr>
        <p:spPr>
          <a:xfrm>
            <a:off x="5760720" y="1563624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E8833A"/>
                </a:solidFill>
                <a:latin typeface="Trebuchet MS"/>
                <a:ea typeface="Trebuchet MS"/>
                <a:cs typeface="Trebuchet MS"/>
                <a:sym typeface="Trebuchet MS"/>
              </a:rPr>
              <a:t>0</a:t>
            </a:r>
            <a:endParaRPr/>
          </a:p>
        </p:txBody>
      </p:sp>
      <p:sp>
        <p:nvSpPr>
          <p:cNvPr id="79" name="Google Shape;79;p3"/>
          <p:cNvSpPr txBox="1"/>
          <p:nvPr/>
        </p:nvSpPr>
        <p:spPr>
          <a:xfrm>
            <a:off x="5852159" y="2029968"/>
            <a:ext cx="1874519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40">
                <a:solidFill>
                  <a:srgbClr val="1F2D34"/>
                </a:solidFill>
                <a:latin typeface="Calibri"/>
                <a:ea typeface="Calibri"/>
                <a:cs typeface="Calibri"/>
                <a:sym typeface="Calibri"/>
              </a:rPr>
              <a:t>duplicados de CustomerID</a:t>
            </a:r>
            <a:endParaRPr/>
          </a:p>
        </p:txBody>
      </p:sp>
      <p:sp>
        <p:nvSpPr>
          <p:cNvPr id="80" name="Google Shape;80;p3"/>
          <p:cNvSpPr txBox="1"/>
          <p:nvPr/>
        </p:nvSpPr>
        <p:spPr>
          <a:xfrm>
            <a:off x="5879592" y="2199132"/>
            <a:ext cx="1783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40">
                <a:solidFill>
                  <a:srgbClr val="6A7A82"/>
                </a:solidFill>
                <a:latin typeface="Calibri"/>
                <a:ea typeface="Calibri"/>
                <a:cs typeface="Calibri"/>
                <a:sym typeface="Calibri"/>
              </a:rPr>
              <a:t>identificador integro</a:t>
            </a:r>
            <a:endParaRPr b="0" i="0" sz="840">
              <a:solidFill>
                <a:srgbClr val="6A7A8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 txBox="1"/>
          <p:nvPr/>
        </p:nvSpPr>
        <p:spPr>
          <a:xfrm>
            <a:off x="8372922" y="2020824"/>
            <a:ext cx="998671" cy="2828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91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variables numericas</a:t>
            </a:r>
            <a:br>
              <a:rPr i="0" lang="en-US" sz="91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i="0" lang="en-US" sz="91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 valores faltantes</a:t>
            </a:r>
            <a:endParaRPr i="0" sz="91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 txBox="1"/>
          <p:nvPr/>
        </p:nvSpPr>
        <p:spPr>
          <a:xfrm>
            <a:off x="7818120" y="155448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>
                <a:solidFill>
                  <a:srgbClr val="0E7C86"/>
                </a:solidFill>
                <a:latin typeface="Trebuchet MS"/>
                <a:ea typeface="Trebuchet MS"/>
                <a:cs typeface="Trebuchet MS"/>
                <a:sym typeface="Trebuchet MS"/>
              </a:rPr>
              <a:t>7</a:t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9966960" y="1417320"/>
            <a:ext cx="1673352" cy="9875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E6E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 txBox="1"/>
          <p:nvPr/>
        </p:nvSpPr>
        <p:spPr>
          <a:xfrm>
            <a:off x="10090404" y="1719072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>
                <a:solidFill>
                  <a:srgbClr val="0E7C86"/>
                </a:solidFill>
                <a:latin typeface="Trebuchet MS"/>
                <a:ea typeface="Trebuchet MS"/>
                <a:cs typeface="Trebuchet MS"/>
                <a:sym typeface="Trebuchet MS"/>
              </a:rPr>
              <a:t>Dentro del fold</a:t>
            </a:r>
            <a:endParaRPr/>
          </a:p>
        </p:txBody>
      </p:sp>
      <p:sp>
        <p:nvSpPr>
          <p:cNvPr id="85" name="Google Shape;85;p3"/>
          <p:cNvSpPr txBox="1"/>
          <p:nvPr/>
        </p:nvSpPr>
        <p:spPr>
          <a:xfrm>
            <a:off x="10272478" y="1993392"/>
            <a:ext cx="1053173" cy="2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19">
                <a:solidFill>
                  <a:srgbClr val="6A7A82"/>
                </a:solidFill>
                <a:latin typeface="Calibri"/>
                <a:ea typeface="Calibri"/>
                <a:cs typeface="Calibri"/>
                <a:sym typeface="Calibri"/>
              </a:rPr>
              <a:t>Imputación y escalado</a:t>
            </a:r>
            <a:br>
              <a:rPr b="1" i="0" lang="en-US" sz="819">
                <a:solidFill>
                  <a:srgbClr val="6A7A8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819">
                <a:solidFill>
                  <a:srgbClr val="6A7A82"/>
                </a:solidFill>
                <a:latin typeface="Calibri"/>
                <a:ea typeface="Calibri"/>
                <a:cs typeface="Calibri"/>
                <a:sym typeface="Calibri"/>
              </a:rPr>
              <a:t>se ajustan solo con train</a:t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548640" y="2697480"/>
            <a:ext cx="5440680" cy="2788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E6E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 txBox="1"/>
          <p:nvPr/>
        </p:nvSpPr>
        <p:spPr>
          <a:xfrm>
            <a:off x="777240" y="2862072"/>
            <a:ext cx="4983480" cy="180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70">
                <a:solidFill>
                  <a:srgbClr val="1F2D34"/>
                </a:solidFill>
                <a:latin typeface="Trebuchet MS"/>
                <a:ea typeface="Trebuchet MS"/>
                <a:cs typeface="Trebuchet MS"/>
                <a:sym typeface="Trebuchet MS"/>
              </a:rPr>
              <a:t>Categorias equivalentes detectadas</a:t>
            </a:r>
            <a:endParaRPr b="1" i="0" sz="1170">
              <a:solidFill>
                <a:srgbClr val="1F2D34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8" name="Google Shape;88;p3"/>
          <p:cNvSpPr txBox="1"/>
          <p:nvPr/>
        </p:nvSpPr>
        <p:spPr>
          <a:xfrm>
            <a:off x="868680" y="3429000"/>
            <a:ext cx="685800" cy="1461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E8833A"/>
                </a:solidFill>
                <a:latin typeface="Calibri"/>
                <a:ea typeface="Calibri"/>
                <a:cs typeface="Calibri"/>
                <a:sym typeface="Calibri"/>
              </a:rPr>
              <a:t>Phone</a:t>
            </a:r>
            <a:endParaRPr/>
          </a:p>
        </p:txBody>
      </p:sp>
      <p:sp>
        <p:nvSpPr>
          <p:cNvPr id="89" name="Google Shape;89;p3"/>
          <p:cNvSpPr txBox="1"/>
          <p:nvPr/>
        </p:nvSpPr>
        <p:spPr>
          <a:xfrm>
            <a:off x="1508760" y="3429000"/>
            <a:ext cx="182880" cy="130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>
                <a:solidFill>
                  <a:srgbClr val="6A7A82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endParaRPr/>
          </a:p>
        </p:txBody>
      </p:sp>
      <p:sp>
        <p:nvSpPr>
          <p:cNvPr id="90" name="Google Shape;90;p3"/>
          <p:cNvSpPr txBox="1"/>
          <p:nvPr/>
        </p:nvSpPr>
        <p:spPr>
          <a:xfrm>
            <a:off x="1737360" y="3429000"/>
            <a:ext cx="3977639" cy="1461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Mobile Phone</a:t>
            </a:r>
            <a:endParaRPr/>
          </a:p>
        </p:txBody>
      </p:sp>
      <p:sp>
        <p:nvSpPr>
          <p:cNvPr id="91" name="Google Shape;91;p3"/>
          <p:cNvSpPr txBox="1"/>
          <p:nvPr/>
        </p:nvSpPr>
        <p:spPr>
          <a:xfrm>
            <a:off x="868680" y="3931920"/>
            <a:ext cx="685800" cy="1461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E8833A"/>
                </a:solidFill>
                <a:latin typeface="Calibri"/>
                <a:ea typeface="Calibri"/>
                <a:cs typeface="Calibri"/>
                <a:sym typeface="Calibri"/>
              </a:rPr>
              <a:t>COD</a:t>
            </a:r>
            <a:endParaRPr/>
          </a:p>
        </p:txBody>
      </p:sp>
      <p:sp>
        <p:nvSpPr>
          <p:cNvPr id="92" name="Google Shape;92;p3"/>
          <p:cNvSpPr txBox="1"/>
          <p:nvPr/>
        </p:nvSpPr>
        <p:spPr>
          <a:xfrm>
            <a:off x="1508760" y="3931920"/>
            <a:ext cx="182880" cy="130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>
                <a:solidFill>
                  <a:srgbClr val="6A7A82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endParaRPr/>
          </a:p>
        </p:txBody>
      </p:sp>
      <p:sp>
        <p:nvSpPr>
          <p:cNvPr id="93" name="Google Shape;93;p3"/>
          <p:cNvSpPr txBox="1"/>
          <p:nvPr/>
        </p:nvSpPr>
        <p:spPr>
          <a:xfrm>
            <a:off x="1737360" y="3931920"/>
            <a:ext cx="3977639" cy="1461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Cash on Delivery</a:t>
            </a:r>
            <a:endParaRPr/>
          </a:p>
        </p:txBody>
      </p:sp>
      <p:sp>
        <p:nvSpPr>
          <p:cNvPr id="94" name="Google Shape;94;p3"/>
          <p:cNvSpPr txBox="1"/>
          <p:nvPr/>
        </p:nvSpPr>
        <p:spPr>
          <a:xfrm>
            <a:off x="868680" y="4434840"/>
            <a:ext cx="685800" cy="1461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E8833A"/>
                </a:solidFill>
                <a:latin typeface="Calibri"/>
                <a:ea typeface="Calibri"/>
                <a:cs typeface="Calibri"/>
                <a:sym typeface="Calibri"/>
              </a:rPr>
              <a:t>CC</a:t>
            </a:r>
            <a:endParaRPr/>
          </a:p>
        </p:txBody>
      </p:sp>
      <p:sp>
        <p:nvSpPr>
          <p:cNvPr id="95" name="Google Shape;95;p3"/>
          <p:cNvSpPr txBox="1"/>
          <p:nvPr/>
        </p:nvSpPr>
        <p:spPr>
          <a:xfrm>
            <a:off x="1508760" y="4434840"/>
            <a:ext cx="182880" cy="130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>
                <a:solidFill>
                  <a:srgbClr val="6A7A82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endParaRPr/>
          </a:p>
        </p:txBody>
      </p:sp>
      <p:sp>
        <p:nvSpPr>
          <p:cNvPr id="96" name="Google Shape;96;p3"/>
          <p:cNvSpPr txBox="1"/>
          <p:nvPr/>
        </p:nvSpPr>
        <p:spPr>
          <a:xfrm>
            <a:off x="1737360" y="4434840"/>
            <a:ext cx="3977639" cy="1461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Credit Card</a:t>
            </a:r>
            <a:endParaRPr/>
          </a:p>
        </p:txBody>
      </p:sp>
      <p:sp>
        <p:nvSpPr>
          <p:cNvPr id="97" name="Google Shape;97;p3"/>
          <p:cNvSpPr txBox="1"/>
          <p:nvPr/>
        </p:nvSpPr>
        <p:spPr>
          <a:xfrm>
            <a:off x="868680" y="4937760"/>
            <a:ext cx="685800" cy="1461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E8833A"/>
                </a:solidFill>
                <a:latin typeface="Calibri"/>
                <a:ea typeface="Calibri"/>
                <a:cs typeface="Calibri"/>
                <a:sym typeface="Calibri"/>
              </a:rPr>
              <a:t>Mobile</a:t>
            </a:r>
            <a:endParaRPr/>
          </a:p>
        </p:txBody>
      </p:sp>
      <p:sp>
        <p:nvSpPr>
          <p:cNvPr id="98" name="Google Shape;98;p3"/>
          <p:cNvSpPr txBox="1"/>
          <p:nvPr/>
        </p:nvSpPr>
        <p:spPr>
          <a:xfrm>
            <a:off x="1508760" y="4937760"/>
            <a:ext cx="182880" cy="130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>
                <a:solidFill>
                  <a:srgbClr val="6A7A82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endParaRPr/>
          </a:p>
        </p:txBody>
      </p:sp>
      <p:sp>
        <p:nvSpPr>
          <p:cNvPr id="99" name="Google Shape;99;p3"/>
          <p:cNvSpPr txBox="1"/>
          <p:nvPr/>
        </p:nvSpPr>
        <p:spPr>
          <a:xfrm>
            <a:off x="1737360" y="4937760"/>
            <a:ext cx="3977639" cy="1461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Mobile Phone</a:t>
            </a:r>
            <a:endParaRPr/>
          </a:p>
        </p:txBody>
      </p:sp>
      <p:sp>
        <p:nvSpPr>
          <p:cNvPr id="100" name="Google Shape;100;p3"/>
          <p:cNvSpPr/>
          <p:nvPr/>
        </p:nvSpPr>
        <p:spPr>
          <a:xfrm>
            <a:off x="6199632" y="2697480"/>
            <a:ext cx="5440680" cy="2788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E6E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 txBox="1"/>
          <p:nvPr/>
        </p:nvSpPr>
        <p:spPr>
          <a:xfrm>
            <a:off x="6428232" y="2862071"/>
            <a:ext cx="4983480" cy="268337"/>
          </a:xfrm>
          <a:prstGeom prst="rect">
            <a:avLst/>
          </a:prstGeom>
          <a:noFill/>
          <a:ln>
            <a:noFill/>
          </a:ln>
        </p:spPr>
        <p:txBody>
          <a:bodyPr anchorCtr="0" anchor="t" bIns="30000" lIns="91425" spcFirstLastPara="1" rIns="91425" wrap="square" tIns="30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E7C86"/>
                </a:solidFill>
                <a:latin typeface="Trebuchet MS"/>
                <a:ea typeface="Trebuchet MS"/>
                <a:cs typeface="Trebuchet MS"/>
                <a:sym typeface="Trebuchet MS"/>
              </a:rPr>
              <a:t>Imputación y outliers</a:t>
            </a:r>
            <a:endParaRPr b="0" i="0" sz="790">
              <a:solidFill>
                <a:srgbClr val="1F2D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6428232" y="3264408"/>
            <a:ext cx="4983480" cy="2103121"/>
          </a:xfrm>
          <a:prstGeom prst="rect">
            <a:avLst/>
          </a:prstGeom>
          <a:noFill/>
          <a:ln>
            <a:noFill/>
          </a:ln>
        </p:spPr>
        <p:txBody>
          <a:bodyPr anchorCtr="0" anchor="ctr" bIns="30000" lIns="91425" spcFirstLastPara="1" rIns="91425" wrap="square" tIns="30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90">
                <a:solidFill>
                  <a:srgbClr val="1F2D34"/>
                </a:solidFill>
                <a:latin typeface="Calibri"/>
                <a:ea typeface="Calibri"/>
                <a:cs typeface="Calibri"/>
                <a:sym typeface="Calibri"/>
              </a:rPr>
              <a:t>Mediana - WarehouseToHome, CouponUsed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40">
                <a:solidFill>
                  <a:srgbClr val="1F2D34"/>
                </a:solidFill>
                <a:latin typeface="Calibri"/>
                <a:ea typeface="Calibri"/>
                <a:cs typeface="Calibri"/>
                <a:sym typeface="Calibri"/>
              </a:rPr>
              <a:t>Sin patrón predictivo claro frente al resto de variables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840">
              <a:solidFill>
                <a:srgbClr val="1F2D3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1F2D34"/>
                </a:solidFill>
                <a:latin typeface="Calibri"/>
                <a:ea typeface="Calibri"/>
                <a:cs typeface="Calibri"/>
                <a:sym typeface="Calibri"/>
              </a:rPr>
              <a:t>KNN (k=5, weights=distance) - Tenure, OrderCount, DaySinceLastOrder, HourSpendOnApp, OrderAmountHike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40">
                <a:solidFill>
                  <a:srgbClr val="1F2D34"/>
                </a:solidFill>
                <a:latin typeface="Calibri"/>
                <a:ea typeface="Calibri"/>
                <a:cs typeface="Calibri"/>
                <a:sym typeface="Calibri"/>
              </a:rPr>
              <a:t>Mejor MAE (Mean Absolute Error) frente a Regresión y Mediana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840">
              <a:solidFill>
                <a:srgbClr val="1F2D3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90">
                <a:solidFill>
                  <a:srgbClr val="1F2D34"/>
                </a:solidFill>
                <a:latin typeface="Calibri"/>
                <a:ea typeface="Calibri"/>
                <a:cs typeface="Calibri"/>
                <a:sym typeface="Calibri"/>
              </a:rPr>
              <a:t>Outliers - eliminados solo de gráficos del EDA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1F2D34"/>
                </a:solidFill>
                <a:latin typeface="Calibri"/>
                <a:ea typeface="Calibri"/>
                <a:cs typeface="Calibri"/>
                <a:sym typeface="Calibri"/>
              </a:rPr>
              <a:t>WarehouseToHome: 2 extremos  |  Tenure: 4 extremos  |  DaySinceLastOrder: 1 valor máximo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40">
                <a:solidFill>
                  <a:srgbClr val="1F2D34"/>
                </a:solidFill>
                <a:latin typeface="Calibri"/>
                <a:ea typeface="Calibri"/>
                <a:cs typeface="Calibri"/>
                <a:sym typeface="Calibri"/>
              </a:rPr>
              <a:t>No se eliminan del modelado.</a:t>
            </a:r>
            <a:endParaRPr/>
          </a:p>
        </p:txBody>
      </p:sp>
      <p:sp>
        <p:nvSpPr>
          <p:cNvPr id="103" name="Google Shape;103;p3"/>
          <p:cNvSpPr txBox="1"/>
          <p:nvPr/>
        </p:nvSpPr>
        <p:spPr>
          <a:xfrm>
            <a:off x="777240" y="5833872"/>
            <a:ext cx="14173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80">
                <a:solidFill>
                  <a:srgbClr val="E8833A"/>
                </a:solidFill>
                <a:latin typeface="Trebuchet MS"/>
                <a:ea typeface="Trebuchet MS"/>
                <a:cs typeface="Trebuchet MS"/>
                <a:sym typeface="Trebuchet MS"/>
              </a:rPr>
              <a:t>Regla metodologica</a:t>
            </a:r>
            <a:endParaRPr/>
          </a:p>
        </p:txBody>
      </p:sp>
      <p:sp>
        <p:nvSpPr>
          <p:cNvPr id="104" name="Google Shape;104;p3"/>
          <p:cNvSpPr txBox="1"/>
          <p:nvPr/>
        </p:nvSpPr>
        <p:spPr>
          <a:xfrm>
            <a:off x="2148840" y="5833872"/>
            <a:ext cx="90982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30">
                <a:solidFill>
                  <a:srgbClr val="1F2D34"/>
                </a:solidFill>
                <a:latin typeface="Calibri"/>
                <a:ea typeface="Calibri"/>
                <a:cs typeface="Calibri"/>
                <a:sym typeface="Calibri"/>
              </a:rPr>
              <a:t>La imputación y el escalado se ajustan dentro de cada fold; validación y test no participan del cálculo.</a:t>
            </a:r>
            <a:endParaRPr/>
          </a:p>
        </p:txBody>
      </p:sp>
      <p:sp>
        <p:nvSpPr>
          <p:cNvPr id="105" name="Google Shape;105;p3"/>
          <p:cNvSpPr/>
          <p:nvPr/>
        </p:nvSpPr>
        <p:spPr>
          <a:xfrm>
            <a:off x="548640" y="2697480"/>
            <a:ext cx="5440680" cy="73152"/>
          </a:xfrm>
          <a:prstGeom prst="rect">
            <a:avLst/>
          </a:prstGeom>
          <a:solidFill>
            <a:srgbClr val="E883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6199632" y="2697480"/>
            <a:ext cx="5440680" cy="731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9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fmla="val 16129" name="adj"/>
            </a:avLst>
          </a:prstGeom>
          <a:solidFill>
            <a:srgbClr val="0E7C8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b="1" lang="en-US"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1280160" y="457200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150"/>
              <a:buFont typeface="Trebuchet MS"/>
              <a:buNone/>
            </a:pPr>
            <a:r>
              <a:rPr b="1" lang="en-US" sz="1150">
                <a:solidFill>
                  <a:srgbClr val="0E7C86"/>
                </a:solidFill>
                <a:latin typeface="Trebuchet MS"/>
                <a:ea typeface="Trebuchet MS"/>
                <a:cs typeface="Trebuchet MS"/>
                <a:sym typeface="Trebuchet MS"/>
              </a:rPr>
              <a:t>SPLIT AGRUPADO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1280160" y="694944"/>
            <a:ext cx="1036289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34"/>
              </a:buClr>
              <a:buSzPts val="2650"/>
              <a:buFont typeface="Trebuchet MS"/>
              <a:buNone/>
            </a:pPr>
            <a:r>
              <a:rPr b="1" lang="en-US" sz="2650">
                <a:solidFill>
                  <a:srgbClr val="1F2D34"/>
                </a:solidFill>
                <a:latin typeface="Trebuchet MS"/>
                <a:ea typeface="Trebuchet MS"/>
                <a:cs typeface="Trebuchet MS"/>
                <a:sym typeface="Trebuchet MS"/>
              </a:rPr>
              <a:t>StratifiedGroupKFold: evaluación más honesta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7A8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A7A82"/>
                </a:solidFill>
                <a:latin typeface="Calibri"/>
                <a:ea typeface="Calibri"/>
                <a:cs typeface="Calibri"/>
                <a:sym typeface="Calibri"/>
              </a:rPr>
              <a:t>Pipeline de clasificacion de churn  ·  Grupo 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A7A8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A7A82"/>
                </a:solidFill>
                <a:latin typeface="Calibri"/>
                <a:ea typeface="Calibri"/>
                <a:cs typeface="Calibri"/>
                <a:sym typeface="Calibri"/>
              </a:rPr>
              <a:t>4 / 11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548640" y="2103120"/>
            <a:ext cx="5486400" cy="2926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E6E9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E2A38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1481328" y="2395728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300"/>
              <a:buFont typeface="Trebuchet MS"/>
              <a:buNone/>
            </a:pPr>
            <a:r>
              <a:rPr b="1" lang="en-US" sz="1300">
                <a:solidFill>
                  <a:srgbClr val="0E7C86"/>
                </a:solidFill>
                <a:latin typeface="Trebuchet MS"/>
                <a:ea typeface="Trebuchet MS"/>
                <a:cs typeface="Trebuchet MS"/>
                <a:sym typeface="Trebuchet MS"/>
              </a:rPr>
              <a:t>Cómo definimos el grupo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832104" y="2823554"/>
            <a:ext cx="5202936" cy="21599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F2D34"/>
                </a:solidFill>
                <a:latin typeface="Calibri"/>
                <a:ea typeface="Calibri"/>
                <a:cs typeface="Calibri"/>
                <a:sym typeface="Calibri"/>
              </a:rPr>
              <a:t>StratifiedGroupKFold (5 folds, shuffle=True, random_state=42)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1F2D34"/>
                </a:solidFill>
                <a:latin typeface="Calibri"/>
                <a:ea typeface="Calibri"/>
                <a:cs typeface="Calibri"/>
                <a:sym typeface="Calibri"/>
              </a:rPr>
              <a:t>Entrena con 4 folds y valida con 1, manteniendo la proporción de churn.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1F2D34"/>
                </a:solidFill>
                <a:latin typeface="Calibri"/>
                <a:ea typeface="Calibri"/>
                <a:cs typeface="Calibri"/>
                <a:sym typeface="Calibri"/>
              </a:rPr>
              <a:t>Agrupa perfiles equivalentes: no se repiten entre entrenamiento y validación.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1F2D34"/>
                </a:solidFill>
                <a:latin typeface="Calibri"/>
                <a:ea typeface="Calibri"/>
                <a:cs typeface="Calibri"/>
                <a:sym typeface="Calibri"/>
              </a:rPr>
              <a:t>No usa CustomerID ni Churn para definir los grupos.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F2D34"/>
                </a:solidFill>
                <a:latin typeface="Calibri"/>
                <a:ea typeface="Calibri"/>
                <a:cs typeface="Calibri"/>
                <a:sym typeface="Calibri"/>
              </a:rPr>
              <a:t>El test queda cerrado: solo se usa para medir el resultado final.</a:t>
            </a:r>
            <a:endParaRPr/>
          </a:p>
        </p:txBody>
      </p:sp>
      <p:graphicFrame>
        <p:nvGraphicFramePr>
          <p:cNvPr id="121" name="Google Shape;121;p4"/>
          <p:cNvGraphicFramePr/>
          <p:nvPr/>
        </p:nvGraphicFramePr>
        <p:xfrm>
          <a:off x="6400800" y="1783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{1ADFBC55-9A76-4699-927D-57125D9DC0BA}</a:tableStyleId>
              </a:tblPr>
              <a:tblGrid>
                <a:gridCol w="2194550"/>
                <a:gridCol w="1517900"/>
                <a:gridCol w="152705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Trebuchet M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Conjunto</a:t>
                      </a:r>
                      <a:endParaRPr sz="12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Trebuchet M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Filas</a:t>
                      </a:r>
                      <a:endParaRPr sz="12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Trebuchet M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Churn</a:t>
                      </a:r>
                      <a:endParaRPr sz="12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D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Train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D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4.504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D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758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D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Test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D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1.126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D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2" name="Google Shape;122;p4"/>
          <p:cNvSpPr/>
          <p:nvPr/>
        </p:nvSpPr>
        <p:spPr>
          <a:xfrm>
            <a:off x="6400800" y="3291840"/>
            <a:ext cx="5239512" cy="1737360"/>
          </a:xfrm>
          <a:prstGeom prst="rect">
            <a:avLst/>
          </a:prstGeom>
          <a:solidFill>
            <a:srgbClr val="1E3A5F"/>
          </a:solidFill>
          <a:ln>
            <a:noFill/>
          </a:ln>
          <a:effectLst>
            <a:outerShdw blurRad="114300" rotWithShape="0" algn="bl" dir="5400000" dist="38100">
              <a:srgbClr val="0E2A38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6400800" y="3291840"/>
            <a:ext cx="5239512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Trebuchet MS"/>
              <a:buNone/>
            </a:pPr>
            <a:r>
              <a:rPr b="1" lang="en-US" sz="6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</a:t>
            </a:r>
            <a:endParaRPr sz="6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6400800" y="4297680"/>
            <a:ext cx="523951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perfiles compartidos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entre train y test</a:t>
            </a:r>
            <a:endParaRPr/>
          </a:p>
        </p:txBody>
      </p:sp>
      <p:pic>
        <p:nvPicPr>
          <p:cNvPr descr="ic_shield.png" id="125" name="Google Shape;12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248" y="2359152"/>
            <a:ext cx="475488" cy="4754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9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fmla="val 16129" name="adj"/>
            </a:avLst>
          </a:prstGeom>
          <a:solidFill>
            <a:srgbClr val="0E7C8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b="1" lang="en-US"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1280160" y="457200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150"/>
              <a:buFont typeface="Trebuchet MS"/>
              <a:buNone/>
            </a:pPr>
            <a:r>
              <a:rPr b="1" lang="en-US" sz="1150">
                <a:solidFill>
                  <a:srgbClr val="0E7C86"/>
                </a:solidFill>
                <a:latin typeface="Trebuchet MS"/>
                <a:ea typeface="Trebuchet MS"/>
                <a:cs typeface="Trebuchet MS"/>
                <a:sym typeface="Trebuchet MS"/>
              </a:rPr>
              <a:t>FEATURE ENGINEERING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1280160" y="694944"/>
            <a:ext cx="1036289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34"/>
              </a:buClr>
              <a:buSzPts val="2550"/>
              <a:buFont typeface="Trebuchet MS"/>
              <a:buNone/>
            </a:pPr>
            <a:r>
              <a:rPr b="1" lang="en-US" sz="2550">
                <a:solidFill>
                  <a:srgbClr val="1F2D34"/>
                </a:solidFill>
                <a:latin typeface="Trebuchet MS"/>
                <a:ea typeface="Trebuchet MS"/>
                <a:cs typeface="Trebuchet MS"/>
                <a:sym typeface="Trebuchet MS"/>
              </a:rPr>
              <a:t>Tres ratios de intensidad, deterministas y con sentido de negocio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7A8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A7A82"/>
                </a:solidFill>
                <a:latin typeface="Calibri"/>
                <a:ea typeface="Calibri"/>
                <a:cs typeface="Calibri"/>
                <a:sym typeface="Calibri"/>
              </a:rPr>
              <a:t>Pipeline de clasificacion de churn  ·  Grupo 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A7A8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A7A82"/>
                </a:solidFill>
                <a:latin typeface="Calibri"/>
                <a:ea typeface="Calibri"/>
                <a:cs typeface="Calibri"/>
                <a:sym typeface="Calibri"/>
              </a:rPr>
              <a:t>5 / 11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548640" y="1783080"/>
            <a:ext cx="3493008" cy="1371600"/>
          </a:xfrm>
          <a:prstGeom prst="rect">
            <a:avLst/>
          </a:prstGeom>
          <a:solidFill>
            <a:srgbClr val="0E2A38"/>
          </a:solidFill>
          <a:ln cap="flat" cmpd="sng" w="12700">
            <a:solidFill>
              <a:srgbClr val="DCE6E9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E2A38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777240" y="192024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A0AB"/>
              </a:buClr>
              <a:buSzPts val="1600"/>
              <a:buFont typeface="Trebuchet MS"/>
              <a:buNone/>
            </a:pPr>
            <a:r>
              <a:rPr b="1" lang="en-US" sz="1600">
                <a:solidFill>
                  <a:srgbClr val="1AA0AB"/>
                </a:solidFill>
                <a:latin typeface="Trebuchet MS"/>
                <a:ea typeface="Trebuchet MS"/>
                <a:cs typeface="Trebuchet MS"/>
                <a:sym typeface="Trebuchet MS"/>
              </a:rPr>
              <a:t>OrdersPerTenure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777240" y="2377440"/>
            <a:ext cx="3108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2F4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EAF2F4"/>
                </a:solidFill>
                <a:latin typeface="Consolas"/>
                <a:ea typeface="Consolas"/>
                <a:cs typeface="Consolas"/>
                <a:sym typeface="Consolas"/>
              </a:rPr>
              <a:t>OrderCount / (Tenure + 1)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4270248" y="1783080"/>
            <a:ext cx="3493008" cy="1371600"/>
          </a:xfrm>
          <a:prstGeom prst="rect">
            <a:avLst/>
          </a:prstGeom>
          <a:solidFill>
            <a:srgbClr val="0E2A38"/>
          </a:solidFill>
          <a:ln cap="flat" cmpd="sng" w="12700">
            <a:solidFill>
              <a:srgbClr val="DCE6E9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E2A38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4498848" y="192024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A0AB"/>
              </a:buClr>
              <a:buSzPts val="1600"/>
              <a:buFont typeface="Trebuchet MS"/>
              <a:buNone/>
            </a:pPr>
            <a:r>
              <a:rPr b="1" lang="en-US" sz="1600">
                <a:solidFill>
                  <a:srgbClr val="1AA0AB"/>
                </a:solidFill>
                <a:latin typeface="Trebuchet MS"/>
                <a:ea typeface="Trebuchet MS"/>
                <a:cs typeface="Trebuchet MS"/>
                <a:sym typeface="Trebuchet MS"/>
              </a:rPr>
              <a:t>CashbackPerOrder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4498848" y="2377440"/>
            <a:ext cx="3108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2F4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EAF2F4"/>
                </a:solidFill>
                <a:latin typeface="Consolas"/>
                <a:ea typeface="Consolas"/>
                <a:cs typeface="Consolas"/>
                <a:sym typeface="Consolas"/>
              </a:rPr>
              <a:t>CashbackAmount / (OrderCount + 1)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7991856" y="1783080"/>
            <a:ext cx="3493008" cy="1371600"/>
          </a:xfrm>
          <a:prstGeom prst="rect">
            <a:avLst/>
          </a:prstGeom>
          <a:solidFill>
            <a:srgbClr val="0E2A38"/>
          </a:solidFill>
          <a:ln cap="flat" cmpd="sng" w="12700">
            <a:solidFill>
              <a:srgbClr val="DCE6E9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E2A38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8220456" y="192024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A0AB"/>
              </a:buClr>
              <a:buSzPts val="1600"/>
              <a:buFont typeface="Trebuchet MS"/>
              <a:buNone/>
            </a:pPr>
            <a:r>
              <a:rPr b="1" lang="en-US" sz="1600">
                <a:solidFill>
                  <a:srgbClr val="1AA0AB"/>
                </a:solidFill>
                <a:latin typeface="Trebuchet MS"/>
                <a:ea typeface="Trebuchet MS"/>
                <a:cs typeface="Trebuchet MS"/>
                <a:sym typeface="Trebuchet MS"/>
              </a:rPr>
              <a:t>CouponsPerOrder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8220456" y="2377440"/>
            <a:ext cx="3108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2F4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EAF2F4"/>
                </a:solidFill>
                <a:latin typeface="Consolas"/>
                <a:ea typeface="Consolas"/>
                <a:cs typeface="Consolas"/>
                <a:sym typeface="Consolas"/>
              </a:rPr>
              <a:t>CouponUsed / (OrderCount + 1)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548640" y="3383280"/>
            <a:ext cx="11091672" cy="1600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E6E9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E2A38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777240" y="347472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400"/>
              <a:buFont typeface="Trebuchet MS"/>
              <a:buNone/>
            </a:pPr>
            <a:r>
              <a:rPr b="1" lang="en-US" sz="1400">
                <a:solidFill>
                  <a:srgbClr val="0E7C86"/>
                </a:solidFill>
                <a:latin typeface="Trebuchet MS"/>
                <a:ea typeface="Trebuchet MS"/>
                <a:cs typeface="Trebuchet MS"/>
                <a:sym typeface="Trebuchet MS"/>
              </a:rPr>
              <a:t>Justificación técnica y de negocio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822960" y="3822192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F2D34"/>
              </a:buClr>
              <a:buSzPts val="1200"/>
              <a:buFont typeface="Calibri"/>
              <a:buChar char="•"/>
            </a:pPr>
            <a:r>
              <a:rPr b="0" lang="en-US" sz="1200">
                <a:solidFill>
                  <a:srgbClr val="1F2D34"/>
                </a:solidFill>
                <a:latin typeface="Calibri"/>
                <a:ea typeface="Calibri"/>
                <a:cs typeface="Calibri"/>
                <a:sym typeface="Calibri"/>
              </a:rPr>
              <a:t>Miden intensidad relativa del cliente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6309360" y="3822192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F2D34"/>
              </a:buClr>
              <a:buSzPts val="1200"/>
              <a:buFont typeface="Calibri"/>
              <a:buChar char="•"/>
            </a:pPr>
            <a:r>
              <a:rPr b="0" lang="en-US" sz="1200">
                <a:solidFill>
                  <a:srgbClr val="1F2D34"/>
                </a:solidFill>
                <a:latin typeface="Calibri"/>
                <a:ea typeface="Calibri"/>
                <a:cs typeface="Calibri"/>
                <a:sym typeface="Calibri"/>
              </a:rPr>
              <a:t>El +1 evita divisiones por cero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822960" y="420624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F2D34"/>
              </a:buClr>
              <a:buSzPts val="1200"/>
              <a:buFont typeface="Calibri"/>
              <a:buChar char="•"/>
            </a:pPr>
            <a:r>
              <a:rPr b="0" lang="en-US" sz="1200">
                <a:solidFill>
                  <a:srgbClr val="1F2D34"/>
                </a:solidFill>
                <a:latin typeface="Calibri"/>
                <a:ea typeface="Calibri"/>
                <a:cs typeface="Calibri"/>
                <a:sym typeface="Calibri"/>
              </a:rPr>
              <a:t>No usan Churn: evitan fuga de información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6309360" y="420624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F2D34"/>
              </a:buClr>
              <a:buSzPts val="1200"/>
              <a:buFont typeface="Calibri"/>
              <a:buChar char="•"/>
            </a:pPr>
            <a:r>
              <a:rPr b="0" lang="en-US" sz="1200">
                <a:solidFill>
                  <a:srgbClr val="1F2D34"/>
                </a:solidFill>
                <a:latin typeface="Calibri"/>
                <a:ea typeface="Calibri"/>
                <a:cs typeface="Calibri"/>
                <a:sym typeface="Calibri"/>
              </a:rPr>
              <a:t>Se calculan por separado en train y test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822960" y="4590288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F2D34"/>
              </a:buClr>
              <a:buSzPts val="1200"/>
              <a:buFont typeface="Calibri"/>
              <a:buChar char="•"/>
            </a:pPr>
            <a:r>
              <a:rPr b="0" lang="en-US" sz="1200">
                <a:solidFill>
                  <a:srgbClr val="1F2D34"/>
                </a:solidFill>
                <a:latin typeface="Calibri"/>
                <a:ea typeface="Calibri"/>
                <a:cs typeface="Calibri"/>
                <a:sym typeface="Calibri"/>
              </a:rPr>
              <a:t>Se generan antes del preprocesamiento del modelo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6309360" y="4590288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F2D34"/>
              </a:buClr>
              <a:buSzPts val="1200"/>
              <a:buFont typeface="Calibri"/>
              <a:buChar char="•"/>
            </a:pPr>
            <a:r>
              <a:rPr b="0" lang="en-US" sz="1200">
                <a:solidFill>
                  <a:srgbClr val="1F2D34"/>
                </a:solidFill>
                <a:latin typeface="Calibri"/>
                <a:ea typeface="Calibri"/>
                <a:cs typeface="Calibri"/>
                <a:sym typeface="Calibri"/>
              </a:rPr>
              <a:t>OrdersPerTenure queda entre las variables más importantes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9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fmla="val 16129" name="adj"/>
            </a:avLst>
          </a:prstGeom>
          <a:solidFill>
            <a:srgbClr val="0E7C8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b="1" lang="en-US"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06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1280160" y="457200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150"/>
              <a:buFont typeface="Trebuchet MS"/>
              <a:buNone/>
            </a:pPr>
            <a:r>
              <a:rPr b="1" lang="en-US" sz="1150">
                <a:solidFill>
                  <a:srgbClr val="0E7C86"/>
                </a:solidFill>
                <a:latin typeface="Trebuchet MS"/>
                <a:ea typeface="Trebuchet MS"/>
                <a:cs typeface="Trebuchet MS"/>
                <a:sym typeface="Trebuchet MS"/>
              </a:rPr>
              <a:t>MODELOS E HIPERPARAMETROS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1280160" y="694944"/>
            <a:ext cx="1036289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34"/>
              </a:buClr>
              <a:buSzPts val="2700"/>
              <a:buFont typeface="Trebuchet MS"/>
              <a:buNone/>
            </a:pPr>
            <a:r>
              <a:rPr b="1" lang="en-US" sz="2700">
                <a:solidFill>
                  <a:srgbClr val="1F2D34"/>
                </a:solidFill>
                <a:latin typeface="Trebuchet MS"/>
                <a:ea typeface="Trebuchet MS"/>
                <a:cs typeface="Trebuchet MS"/>
                <a:sym typeface="Trebuchet MS"/>
              </a:rPr>
              <a:t>Del piso Dummy al ensamble Random Forest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7A8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A7A82"/>
                </a:solidFill>
                <a:latin typeface="Calibri"/>
                <a:ea typeface="Calibri"/>
                <a:cs typeface="Calibri"/>
                <a:sym typeface="Calibri"/>
              </a:rPr>
              <a:t>Pipeline de clasificacion de churn  ·  Grupo 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A7A8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A7A82"/>
                </a:solidFill>
                <a:latin typeface="Calibri"/>
                <a:ea typeface="Calibri"/>
                <a:cs typeface="Calibri"/>
                <a:sym typeface="Calibri"/>
              </a:rPr>
              <a:t>6 / 11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548640" y="1783080"/>
            <a:ext cx="2606040" cy="2331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E6E9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E2A38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548640" y="1783080"/>
            <a:ext cx="91440" cy="233172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777240" y="1874520"/>
            <a:ext cx="2286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34"/>
              </a:buClr>
              <a:buSzPts val="1400"/>
              <a:buFont typeface="Trebuchet MS"/>
              <a:buNone/>
            </a:pPr>
            <a:r>
              <a:rPr b="1" lang="en-US" sz="1400">
                <a:solidFill>
                  <a:srgbClr val="1F2D34"/>
                </a:solidFill>
                <a:latin typeface="Trebuchet MS"/>
                <a:ea typeface="Trebuchet MS"/>
                <a:cs typeface="Trebuchet MS"/>
                <a:sym typeface="Trebuchet MS"/>
              </a:rPr>
              <a:t>Dummy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777240" y="2423160"/>
            <a:ext cx="22860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7A82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6A7A82"/>
                </a:solidFill>
                <a:latin typeface="Consolas"/>
                <a:ea typeface="Consolas"/>
                <a:cs typeface="Consolas"/>
                <a:sym typeface="Consolas"/>
              </a:rPr>
              <a:t>strategy = most_frequent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3355848" y="1783080"/>
            <a:ext cx="2606040" cy="2331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E6E9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E2A38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3355848" y="1783080"/>
            <a:ext cx="91440" cy="233172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3584448" y="1874520"/>
            <a:ext cx="2286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34"/>
              </a:buClr>
              <a:buSzPts val="1400"/>
              <a:buFont typeface="Trebuchet MS"/>
              <a:buNone/>
            </a:pPr>
            <a:r>
              <a:rPr b="1" lang="en-US" sz="1400">
                <a:solidFill>
                  <a:srgbClr val="1F2D34"/>
                </a:solidFill>
                <a:latin typeface="Trebuchet MS"/>
                <a:ea typeface="Trebuchet MS"/>
                <a:cs typeface="Trebuchet MS"/>
                <a:sym typeface="Trebuchet MS"/>
              </a:rPr>
              <a:t>Regresion logistica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3584448" y="2423160"/>
            <a:ext cx="22860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7A82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6A7A82"/>
                </a:solidFill>
                <a:latin typeface="Consolas"/>
                <a:ea typeface="Consolas"/>
                <a:cs typeface="Consolas"/>
                <a:sym typeface="Consolas"/>
              </a:rPr>
              <a:t>C = 0.1   class_weight = balanced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7A82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6A7A82"/>
                </a:solidFill>
                <a:latin typeface="Consolas"/>
                <a:ea typeface="Consolas"/>
                <a:cs typeface="Consolas"/>
                <a:sym typeface="Consolas"/>
              </a:rPr>
              <a:t>max_iter = 2000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7A82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6A7A82"/>
                </a:solidFill>
                <a:latin typeface="Consolas"/>
                <a:ea typeface="Consolas"/>
                <a:cs typeface="Consolas"/>
                <a:sym typeface="Consolas"/>
              </a:rPr>
              <a:t>random_state = 42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6163056" y="1783080"/>
            <a:ext cx="2606040" cy="2331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E6E9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E2A38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6163056" y="1783080"/>
            <a:ext cx="91440" cy="233172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6391656" y="1874520"/>
            <a:ext cx="2286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34"/>
              </a:buClr>
              <a:buSzPts val="1400"/>
              <a:buFont typeface="Trebuchet MS"/>
              <a:buNone/>
            </a:pPr>
            <a:r>
              <a:rPr b="1" lang="en-US" sz="1400">
                <a:solidFill>
                  <a:srgbClr val="1F2D34"/>
                </a:solidFill>
                <a:latin typeface="Trebuchet MS"/>
                <a:ea typeface="Trebuchet MS"/>
                <a:cs typeface="Trebuchet MS"/>
                <a:sym typeface="Trebuchet MS"/>
              </a:rPr>
              <a:t>Arbol de decision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6391656" y="2423160"/>
            <a:ext cx="22860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7A82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6A7A82"/>
                </a:solidFill>
                <a:latin typeface="Consolas"/>
                <a:ea typeface="Consolas"/>
                <a:cs typeface="Consolas"/>
                <a:sym typeface="Consolas"/>
              </a:rPr>
              <a:t>class_weight = balanced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7A82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6A7A82"/>
                </a:solidFill>
                <a:latin typeface="Consolas"/>
                <a:ea typeface="Consolas"/>
                <a:cs typeface="Consolas"/>
                <a:sym typeface="Consolas"/>
              </a:rPr>
              <a:t>max_depth = 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7A82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6A7A82"/>
                </a:solidFill>
                <a:latin typeface="Consolas"/>
                <a:ea typeface="Consolas"/>
                <a:cs typeface="Consolas"/>
                <a:sym typeface="Consolas"/>
              </a:rPr>
              <a:t>min_samples_leaf = 20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8970264" y="1783080"/>
            <a:ext cx="2606040" cy="2331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E6E9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E2A38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8970264" y="1783080"/>
            <a:ext cx="91440" cy="2331720"/>
          </a:xfrm>
          <a:prstGeom prst="rect">
            <a:avLst/>
          </a:prstGeom>
          <a:solidFill>
            <a:srgbClr val="E8833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9198864" y="1874520"/>
            <a:ext cx="2286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34"/>
              </a:buClr>
              <a:buSzPts val="1400"/>
              <a:buFont typeface="Trebuchet MS"/>
              <a:buNone/>
            </a:pPr>
            <a:r>
              <a:rPr b="1" lang="en-US" sz="1400">
                <a:solidFill>
                  <a:srgbClr val="1F2D34"/>
                </a:solidFill>
                <a:latin typeface="Trebuchet MS"/>
                <a:ea typeface="Trebuchet MS"/>
                <a:cs typeface="Trebuchet MS"/>
                <a:sym typeface="Trebuchet MS"/>
              </a:rPr>
              <a:t>Random Forest (FINAL)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9198864" y="2423160"/>
            <a:ext cx="22860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7A82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6A7A82"/>
                </a:solidFill>
                <a:latin typeface="Consolas"/>
                <a:ea typeface="Consolas"/>
                <a:cs typeface="Consolas"/>
                <a:sym typeface="Consolas"/>
              </a:rPr>
              <a:t>n_estimators = 300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7A82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6A7A82"/>
                </a:solidFill>
                <a:latin typeface="Consolas"/>
                <a:ea typeface="Consolas"/>
                <a:cs typeface="Consolas"/>
                <a:sym typeface="Consolas"/>
              </a:rPr>
              <a:t>max_depth = 12   max_features = 0.5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7A82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6A7A82"/>
                </a:solidFill>
                <a:latin typeface="Consolas"/>
                <a:ea typeface="Consolas"/>
                <a:cs typeface="Consolas"/>
                <a:sym typeface="Consolas"/>
              </a:rPr>
              <a:t>max_samples = 0.7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7A82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6A7A82"/>
                </a:solidFill>
                <a:latin typeface="Consolas"/>
                <a:ea typeface="Consolas"/>
                <a:cs typeface="Consolas"/>
                <a:sym typeface="Consolas"/>
              </a:rPr>
              <a:t>class_weight = {0:1, 1:5}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548640" y="4251960"/>
            <a:ext cx="11091672" cy="777240"/>
          </a:xfrm>
          <a:prstGeom prst="rect">
            <a:avLst/>
          </a:prstGeom>
          <a:solidFill>
            <a:srgbClr val="0E2A38"/>
          </a:solidFill>
          <a:ln cap="flat" cmpd="sng" w="12700">
            <a:solidFill>
              <a:srgbClr val="DCE6E9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E2A38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822960" y="4251960"/>
            <a:ext cx="10515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A0AB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AA0AB"/>
                </a:solidFill>
                <a:latin typeface="Calibri"/>
                <a:ea typeface="Calibri"/>
                <a:cs typeface="Calibri"/>
                <a:sym typeface="Calibri"/>
              </a:rPr>
              <a:t>Ajuste   </a:t>
            </a:r>
            <a:r>
              <a:rPr lang="en-US" sz="1250">
                <a:solidFill>
                  <a:srgbClr val="EAF2F4"/>
                </a:solidFill>
                <a:latin typeface="Calibri"/>
                <a:ea typeface="Calibri"/>
                <a:cs typeface="Calibri"/>
                <a:sym typeface="Calibri"/>
              </a:rPr>
              <a:t>Los tres modelos se ajustaron con GridSearchCV sobre los mismos folds agrupados optimizando F2 (ver Modelo.ipynb, seccion 12 bis).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9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fmla="val 16129" name="adj"/>
            </a:avLst>
          </a:prstGeom>
          <a:solidFill>
            <a:srgbClr val="0E7C8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b="1" lang="en-US"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07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1280160" y="457200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150"/>
              <a:buFont typeface="Trebuchet MS"/>
              <a:buNone/>
            </a:pPr>
            <a:r>
              <a:rPr b="1" lang="en-US" sz="1150">
                <a:solidFill>
                  <a:srgbClr val="0E7C86"/>
                </a:solidFill>
                <a:latin typeface="Trebuchet MS"/>
                <a:ea typeface="Trebuchet MS"/>
                <a:cs typeface="Trebuchet MS"/>
                <a:sym typeface="Trebuchet MS"/>
              </a:rPr>
              <a:t>METRICAS DE EVALUACION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1280160" y="694944"/>
            <a:ext cx="1036289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34"/>
              </a:buClr>
              <a:buSzPts val="2700"/>
              <a:buFont typeface="Trebuchet MS"/>
              <a:buNone/>
            </a:pPr>
            <a:r>
              <a:rPr b="1" lang="en-US" sz="2700">
                <a:solidFill>
                  <a:srgbClr val="1F2D34"/>
                </a:solidFill>
                <a:latin typeface="Trebuchet MS"/>
                <a:ea typeface="Trebuchet MS"/>
                <a:cs typeface="Trebuchet MS"/>
                <a:sym typeface="Trebuchet MS"/>
              </a:rPr>
              <a:t>F2 prioriza recall sobre precision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7A8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A7A82"/>
                </a:solidFill>
                <a:latin typeface="Calibri"/>
                <a:ea typeface="Calibri"/>
                <a:cs typeface="Calibri"/>
                <a:sym typeface="Calibri"/>
              </a:rPr>
              <a:t>Pipeline de clasificacion de churn  ·  Grupo 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A7A8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A7A82"/>
                </a:solidFill>
                <a:latin typeface="Calibri"/>
                <a:ea typeface="Calibri"/>
                <a:cs typeface="Calibri"/>
                <a:sym typeface="Calibri"/>
              </a:rPr>
              <a:t>7 / 11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548640" y="1783080"/>
            <a:ext cx="5486400" cy="7132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E6E9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E2A38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777240" y="1783080"/>
            <a:ext cx="20116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500"/>
              <a:buFont typeface="Trebuchet MS"/>
              <a:buNone/>
            </a:pPr>
            <a:r>
              <a:rPr b="1" lang="en-US" sz="1500">
                <a:solidFill>
                  <a:srgbClr val="0E7C86"/>
                </a:solidFill>
                <a:latin typeface="Trebuchet MS"/>
                <a:ea typeface="Trebuchet MS"/>
                <a:cs typeface="Trebuchet MS"/>
                <a:sym typeface="Trebuchet MS"/>
              </a:rPr>
              <a:t>Recall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2743200" y="1783080"/>
            <a:ext cx="32004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34"/>
              </a:buClr>
              <a:buSzPts val="1300"/>
              <a:buFont typeface="Consolas"/>
              <a:buNone/>
            </a:pPr>
            <a:r>
              <a:rPr lang="en-US" sz="1300">
                <a:solidFill>
                  <a:srgbClr val="1F2D34"/>
                </a:solidFill>
                <a:latin typeface="Consolas"/>
                <a:ea typeface="Consolas"/>
                <a:cs typeface="Consolas"/>
                <a:sym typeface="Consolas"/>
              </a:rPr>
              <a:t>TP / (TP + FN)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548640" y="2624328"/>
            <a:ext cx="5486400" cy="7132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E6E9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E2A38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777240" y="2624328"/>
            <a:ext cx="20116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500"/>
              <a:buFont typeface="Trebuchet MS"/>
              <a:buNone/>
            </a:pPr>
            <a:r>
              <a:rPr b="1" lang="en-US" sz="1500">
                <a:solidFill>
                  <a:srgbClr val="0E7C86"/>
                </a:solidFill>
                <a:latin typeface="Trebuchet MS"/>
                <a:ea typeface="Trebuchet MS"/>
                <a:cs typeface="Trebuchet MS"/>
                <a:sym typeface="Trebuchet MS"/>
              </a:rPr>
              <a:t>Precision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2743200" y="2624328"/>
            <a:ext cx="32004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34"/>
              </a:buClr>
              <a:buSzPts val="1300"/>
              <a:buFont typeface="Consolas"/>
              <a:buNone/>
            </a:pPr>
            <a:r>
              <a:rPr lang="en-US" sz="1300">
                <a:solidFill>
                  <a:srgbClr val="1F2D34"/>
                </a:solidFill>
                <a:latin typeface="Consolas"/>
                <a:ea typeface="Consolas"/>
                <a:cs typeface="Consolas"/>
                <a:sym typeface="Consolas"/>
              </a:rPr>
              <a:t>TP / (TP + FP)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548640" y="3465576"/>
            <a:ext cx="5486400" cy="7132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E6E9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E2A38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777240" y="3465576"/>
            <a:ext cx="20116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500"/>
              <a:buFont typeface="Trebuchet MS"/>
              <a:buNone/>
            </a:pPr>
            <a:r>
              <a:rPr b="1" lang="en-US" sz="1500">
                <a:solidFill>
                  <a:srgbClr val="0E7C86"/>
                </a:solidFill>
                <a:latin typeface="Trebuchet MS"/>
                <a:ea typeface="Trebuchet MS"/>
                <a:cs typeface="Trebuchet MS"/>
                <a:sym typeface="Trebuchet MS"/>
              </a:rPr>
              <a:t>F-beta (β=2)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2743200" y="3465576"/>
            <a:ext cx="32004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34"/>
              </a:buClr>
              <a:buSzPts val="1300"/>
              <a:buFont typeface="Consolas"/>
              <a:buNone/>
            </a:pPr>
            <a:r>
              <a:rPr lang="en-US" sz="1300">
                <a:solidFill>
                  <a:srgbClr val="1F2D34"/>
                </a:solidFill>
                <a:latin typeface="Consolas"/>
                <a:ea typeface="Consolas"/>
                <a:cs typeface="Consolas"/>
                <a:sym typeface="Consolas"/>
              </a:rPr>
              <a:t>(1+β²)·P·R / (β²·P + R)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548640" y="5239512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33A"/>
              </a:buClr>
              <a:buSzPts val="1150"/>
              <a:buFont typeface="Calibri"/>
              <a:buNone/>
            </a:pPr>
            <a:r>
              <a:rPr i="1" lang="en-US" sz="1150">
                <a:solidFill>
                  <a:srgbClr val="E8833A"/>
                </a:solidFill>
                <a:latin typeface="Calibri"/>
                <a:ea typeface="Calibri"/>
                <a:cs typeface="Calibri"/>
                <a:sym typeface="Calibri"/>
              </a:rPr>
              <a:t>Con β=2, recall pesa 4× la precision dentro de la formula.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6400800" y="1783080"/>
            <a:ext cx="5239512" cy="3246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E6E9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E2A38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6583680" y="1874520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34"/>
              </a:buClr>
              <a:buSzPts val="1400"/>
              <a:buFont typeface="Trebuchet MS"/>
              <a:buNone/>
            </a:pPr>
            <a:r>
              <a:rPr b="1" lang="en-US" sz="1400">
                <a:solidFill>
                  <a:srgbClr val="1F2D34"/>
                </a:solidFill>
                <a:latin typeface="Trebuchet MS"/>
                <a:ea typeface="Trebuchet MS"/>
                <a:cs typeface="Trebuchet MS"/>
                <a:sym typeface="Trebuchet MS"/>
              </a:rPr>
              <a:t>Matriz de confusion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7040880" y="2331720"/>
            <a:ext cx="2011680" cy="100584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7040880" y="2331720"/>
            <a:ext cx="20116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lang="en-US" sz="2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TP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9235440" y="2331720"/>
            <a:ext cx="2011680" cy="1005840"/>
          </a:xfrm>
          <a:prstGeom prst="rect">
            <a:avLst/>
          </a:prstGeom>
          <a:solidFill>
            <a:srgbClr val="E8833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9235440" y="2331720"/>
            <a:ext cx="20116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lang="en-US" sz="2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FN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7040880" y="3474720"/>
            <a:ext cx="2011680" cy="1005840"/>
          </a:xfrm>
          <a:prstGeom prst="rect">
            <a:avLst/>
          </a:prstGeom>
          <a:solidFill>
            <a:srgbClr val="E8833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7040880" y="3474720"/>
            <a:ext cx="20116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lang="en-US" sz="2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FP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9235440" y="3474720"/>
            <a:ext cx="2011680" cy="1005840"/>
          </a:xfrm>
          <a:prstGeom prst="rect">
            <a:avLst/>
          </a:prstGeom>
          <a:solidFill>
            <a:srgbClr val="9FB3B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9235440" y="3474720"/>
            <a:ext cx="20116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lang="en-US" sz="2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TN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6583680" y="457200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7A82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A7A82"/>
                </a:solidFill>
                <a:latin typeface="Calibri"/>
                <a:ea typeface="Calibri"/>
                <a:cs typeface="Calibri"/>
                <a:sym typeface="Calibri"/>
              </a:rPr>
              <a:t>Complementarias: F1 · PR-AUC · ROC-AUC · cantidad de alertas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548640" y="4334256"/>
            <a:ext cx="5486400" cy="7132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E6E9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E2A38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777240" y="4334256"/>
            <a:ext cx="20116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500"/>
              <a:buFont typeface="Trebuchet MS"/>
              <a:buNone/>
            </a:pPr>
            <a:r>
              <a:rPr b="1" lang="en-US" sz="1500">
                <a:solidFill>
                  <a:srgbClr val="0E7C86"/>
                </a:solidFill>
                <a:latin typeface="Trebuchet MS"/>
                <a:ea typeface="Trebuchet MS"/>
                <a:cs typeface="Trebuchet MS"/>
                <a:sym typeface="Trebuchet MS"/>
              </a:rPr>
              <a:t>PR-AUC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2237873" y="4337144"/>
            <a:ext cx="32004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34"/>
              </a:buClr>
              <a:buSzPts val="1300"/>
              <a:buFont typeface="Consolas"/>
              <a:buNone/>
            </a:pPr>
            <a:r>
              <a:rPr lang="en-US" sz="1300">
                <a:solidFill>
                  <a:srgbClr val="1F2D34"/>
                </a:solidFill>
                <a:latin typeface="Consolas"/>
                <a:ea typeface="Consolas"/>
                <a:cs typeface="Consolas"/>
                <a:sym typeface="Consolas"/>
              </a:rPr>
              <a:t>Area bajo la curva Precision-Recall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9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8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fmla="val 16129" name="adj"/>
            </a:avLst>
          </a:prstGeom>
          <a:solidFill>
            <a:srgbClr val="0E7C8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b="1" lang="en-US"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08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1280160" y="457200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150"/>
              <a:buFont typeface="Trebuchet MS"/>
              <a:buNone/>
            </a:pPr>
            <a:r>
              <a:rPr b="1" lang="en-US" sz="1150">
                <a:solidFill>
                  <a:srgbClr val="0E7C86"/>
                </a:solidFill>
                <a:latin typeface="Trebuchet MS"/>
                <a:ea typeface="Trebuchet MS"/>
                <a:cs typeface="Trebuchet MS"/>
                <a:sym typeface="Trebuchet MS"/>
              </a:rPr>
              <a:t>SENSIBILIDAD TEMPORAL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1280160" y="694944"/>
            <a:ext cx="1036289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34"/>
              </a:buClr>
              <a:buSzPts val="2700"/>
              <a:buFont typeface="Trebuchet MS"/>
              <a:buNone/>
            </a:pPr>
            <a:r>
              <a:rPr b="1" lang="en-US" sz="2700">
                <a:solidFill>
                  <a:srgbClr val="1F2D34"/>
                </a:solidFill>
                <a:latin typeface="Trebuchet MS"/>
                <a:ea typeface="Trebuchet MS"/>
                <a:cs typeface="Trebuchet MS"/>
                <a:sym typeface="Trebuchet MS"/>
              </a:rPr>
              <a:t>Random Forest con y sin variables de riesgo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7A8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A7A82"/>
                </a:solidFill>
                <a:latin typeface="Calibri"/>
                <a:ea typeface="Calibri"/>
                <a:cs typeface="Calibri"/>
                <a:sym typeface="Calibri"/>
              </a:rPr>
              <a:t>Pipeline de clasificacion de churn  ·  Grupo 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A7A8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A7A82"/>
                </a:solidFill>
                <a:latin typeface="Calibri"/>
                <a:ea typeface="Calibri"/>
                <a:cs typeface="Calibri"/>
                <a:sym typeface="Calibri"/>
              </a:rPr>
              <a:t>8 / 11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9" name="Google Shape;229;p8"/>
          <p:cNvGraphicFramePr/>
          <p:nvPr/>
        </p:nvGraphicFramePr>
        <p:xfrm>
          <a:off x="548640" y="182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{1ADFBC55-9A76-4699-927D-57125D9DC0BA}</a:tableStyleId>
              </a:tblPr>
              <a:tblGrid>
                <a:gridCol w="1912925"/>
                <a:gridCol w="879650"/>
                <a:gridCol w="879650"/>
                <a:gridCol w="971100"/>
                <a:gridCol w="843075"/>
              </a:tblGrid>
              <a:tr h="475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Trebuchet M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Escenario</a:t>
                      </a:r>
                      <a:endParaRPr sz="12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Trebuchet M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F2</a:t>
                      </a:r>
                      <a:endParaRPr sz="12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Trebuchet M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Recall</a:t>
                      </a:r>
                      <a:endParaRPr sz="12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Trebuchet M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Precision</a:t>
                      </a:r>
                      <a:endParaRPr sz="12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Trebuchet M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PR-AUC</a:t>
                      </a:r>
                      <a:endParaRPr sz="12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7C86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D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Completo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D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0,763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D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0,768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D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0,743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D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0,830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D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Sin Complain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D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0,699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D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0,703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D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0,683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D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0,784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D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Sin DaySinceLastOrder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D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0,759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D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0,765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D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0,737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D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0,821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833A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E88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Sin ambas (final)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4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F2D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0,698</a:t>
                      </a:r>
                      <a:endParaRPr b="0"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4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F2D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0,707</a:t>
                      </a:r>
                      <a:endParaRPr b="0"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D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0,662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D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0,768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descr="C:\Users\ftamaki\Documents\ITBA\1C2026\IA\TP_IA_aplicada_a_negocios_churn_Grupo1\reports\figures\temporal_sensitivity_f2.png" id="230" name="Google Shape;23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8834" y="1737360"/>
            <a:ext cx="4517724" cy="329184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8"/>
          <p:cNvSpPr/>
          <p:nvPr/>
        </p:nvSpPr>
        <p:spPr>
          <a:xfrm>
            <a:off x="548640" y="4343400"/>
            <a:ext cx="5486400" cy="914400"/>
          </a:xfrm>
          <a:prstGeom prst="rect">
            <a:avLst/>
          </a:prstGeom>
          <a:solidFill>
            <a:srgbClr val="0E2A38"/>
          </a:solidFill>
          <a:ln cap="flat" cmpd="sng" w="12700">
            <a:solidFill>
              <a:srgbClr val="DCE6E9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E2A38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822960" y="4343400"/>
            <a:ext cx="50749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33A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E8833A"/>
                </a:solidFill>
                <a:latin typeface="Calibri"/>
                <a:ea typeface="Calibri"/>
                <a:cs typeface="Calibri"/>
                <a:sym typeface="Calibri"/>
              </a:rPr>
              <a:t>Decision   </a:t>
            </a:r>
            <a:r>
              <a:rPr lang="en-US" sz="1150">
                <a:solidFill>
                  <a:srgbClr val="EAF2F4"/>
                </a:solidFill>
                <a:latin typeface="Calibri"/>
                <a:ea typeface="Calibri"/>
                <a:cs typeface="Calibri"/>
                <a:sym typeface="Calibri"/>
              </a:rPr>
              <a:t>Excluir Complain y DaySinceLastOrder por temporalidad no garantizada. Medido sobre RF por ser el modelo mas reactivo a ambas.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9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9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fmla="val 16129" name="adj"/>
            </a:avLst>
          </a:prstGeom>
          <a:solidFill>
            <a:srgbClr val="0E7C8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b="1" lang="en-US"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09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1280160" y="457200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150"/>
              <a:buFont typeface="Trebuchet MS"/>
              <a:buNone/>
            </a:pPr>
            <a:r>
              <a:rPr b="1" lang="en-US" sz="1150">
                <a:solidFill>
                  <a:srgbClr val="0E7C86"/>
                </a:solidFill>
                <a:latin typeface="Trebuchet MS"/>
                <a:ea typeface="Trebuchet MS"/>
                <a:cs typeface="Trebuchet MS"/>
                <a:sym typeface="Trebuchet MS"/>
              </a:rPr>
              <a:t>COMPARACION DE MODELOS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1280160" y="694944"/>
            <a:ext cx="1036289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34"/>
              </a:buClr>
              <a:buSzPts val="2700"/>
              <a:buFont typeface="Trebuchet MS"/>
              <a:buNone/>
            </a:pPr>
            <a:r>
              <a:rPr b="1" lang="en-US" sz="2700">
                <a:solidFill>
                  <a:srgbClr val="1F2D34"/>
                </a:solidFill>
                <a:latin typeface="Trebuchet MS"/>
                <a:ea typeface="Trebuchet MS"/>
                <a:cs typeface="Trebuchet MS"/>
                <a:sym typeface="Trebuchet MS"/>
              </a:rPr>
              <a:t>Fuera de fold, modelos tuneados, umbral 0,50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7A8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A7A82"/>
                </a:solidFill>
                <a:latin typeface="Calibri"/>
                <a:ea typeface="Calibri"/>
                <a:cs typeface="Calibri"/>
                <a:sym typeface="Calibri"/>
              </a:rPr>
              <a:t>Pipeline de clasificacion de churn  ·  Grupo 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A7A8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A7A82"/>
                </a:solidFill>
                <a:latin typeface="Calibri"/>
                <a:ea typeface="Calibri"/>
                <a:cs typeface="Calibri"/>
                <a:sym typeface="Calibri"/>
              </a:rPr>
              <a:t>9 / 11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4" name="Google Shape;244;p9"/>
          <p:cNvGraphicFramePr/>
          <p:nvPr/>
        </p:nvGraphicFramePr>
        <p:xfrm>
          <a:off x="548640" y="182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{1ADFBC55-9A76-4699-927D-57125D9DC0BA}</a:tableStyleId>
              </a:tblPr>
              <a:tblGrid>
                <a:gridCol w="1912925"/>
                <a:gridCol w="879650"/>
                <a:gridCol w="879650"/>
                <a:gridCol w="971100"/>
                <a:gridCol w="843075"/>
              </a:tblGrid>
              <a:tr h="475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Trebuchet M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Modelo</a:t>
                      </a:r>
                      <a:endParaRPr sz="12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Trebuchet M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F2</a:t>
                      </a:r>
                      <a:endParaRPr sz="12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Trebuchet M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Recall</a:t>
                      </a:r>
                      <a:endParaRPr sz="12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Trebuchet M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Precision</a:t>
                      </a:r>
                      <a:endParaRPr sz="12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Trebuchet M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PR-AUC</a:t>
                      </a:r>
                      <a:endParaRPr sz="12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7C86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A7A82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6A7A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Dummy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D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0,000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D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0,000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D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0,000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D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0,168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A7A82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6A7A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Regresion logistica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D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0,688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D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0,809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D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0,431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D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0,609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D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Arbol de decision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D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0,669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D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0,780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D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0,427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D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0,579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7C86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E7C8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Random Forest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4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F2D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0,698</a:t>
                      </a:r>
                      <a:endParaRPr b="1"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4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F2D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0,707</a:t>
                      </a:r>
                      <a:endParaRPr b="0"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4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F2D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0,662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4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F2D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0,768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descr="C:\Users\ftamaki\Documents\ITBA\1C2026\IA\TP_IA_aplicada_a_negocios_churn_Grupo1\reports\figures\final_model_comparison_cv.png" id="245" name="Google Shape;24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12864" y="2030832"/>
            <a:ext cx="4572000" cy="3527854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9"/>
          <p:cNvSpPr/>
          <p:nvPr/>
        </p:nvSpPr>
        <p:spPr>
          <a:xfrm>
            <a:off x="548640" y="4343400"/>
            <a:ext cx="5486400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E6E9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E2A38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822960" y="4343400"/>
            <a:ext cx="50749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Seleccion   </a:t>
            </a:r>
            <a:r>
              <a:rPr lang="en-US" sz="1150">
                <a:solidFill>
                  <a:srgbClr val="1F2D34"/>
                </a:solidFill>
                <a:latin typeface="Calibri"/>
                <a:ea typeface="Calibri"/>
                <a:cs typeface="Calibri"/>
                <a:sym typeface="Calibri"/>
              </a:rPr>
              <a:t>Random Forest tuneado. Criterio primario F2 (el mas alto fuera de fold). A igual recall genera la mitad de falsas alertas que la logistica. La logistica queda como baseline interpretable.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9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fmla="val 16129" name="adj"/>
            </a:avLst>
          </a:prstGeom>
          <a:solidFill>
            <a:srgbClr val="0E7C8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b="1" lang="en-US"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0"/>
          <p:cNvSpPr/>
          <p:nvPr/>
        </p:nvSpPr>
        <p:spPr>
          <a:xfrm>
            <a:off x="1280160" y="457200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150"/>
              <a:buFont typeface="Trebuchet MS"/>
              <a:buNone/>
            </a:pPr>
            <a:r>
              <a:rPr b="1" lang="en-US" sz="1150">
                <a:solidFill>
                  <a:srgbClr val="0E7C86"/>
                </a:solidFill>
                <a:latin typeface="Trebuchet MS"/>
                <a:ea typeface="Trebuchet MS"/>
                <a:cs typeface="Trebuchet MS"/>
                <a:sym typeface="Trebuchet MS"/>
              </a:rPr>
              <a:t>AJUSTE DE UMBRAL Y TEST FINAL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0"/>
          <p:cNvSpPr/>
          <p:nvPr/>
        </p:nvSpPr>
        <p:spPr>
          <a:xfrm>
            <a:off x="1280160" y="694944"/>
            <a:ext cx="1036289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34"/>
              </a:buClr>
              <a:buSzPts val="2700"/>
              <a:buFont typeface="Trebuchet MS"/>
              <a:buNone/>
            </a:pPr>
            <a:r>
              <a:rPr b="1" lang="en-US" sz="2700">
                <a:solidFill>
                  <a:srgbClr val="1F2D34"/>
                </a:solidFill>
                <a:latin typeface="Trebuchet MS"/>
                <a:ea typeface="Trebuchet MS"/>
                <a:cs typeface="Trebuchet MS"/>
                <a:sym typeface="Trebuchet MS"/>
              </a:rPr>
              <a:t>Umbral elegido 0,27, congelado antes de test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7A8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A7A82"/>
                </a:solidFill>
                <a:latin typeface="Calibri"/>
                <a:ea typeface="Calibri"/>
                <a:cs typeface="Calibri"/>
                <a:sym typeface="Calibri"/>
              </a:rPr>
              <a:t>Pipeline de clasificacion de churn  ·  Grupo 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0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A7A8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A7A82"/>
                </a:solidFill>
                <a:latin typeface="Calibri"/>
                <a:ea typeface="Calibri"/>
                <a:cs typeface="Calibri"/>
                <a:sym typeface="Calibri"/>
              </a:rPr>
              <a:t>10 / 11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548640" y="16916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300"/>
              <a:buFont typeface="Trebuchet MS"/>
              <a:buNone/>
            </a:pPr>
            <a:r>
              <a:rPr b="1" lang="en-US" sz="1300">
                <a:solidFill>
                  <a:srgbClr val="0E7C86"/>
                </a:solidFill>
                <a:latin typeface="Trebuchet MS"/>
                <a:ea typeface="Trebuchet MS"/>
                <a:cs typeface="Trebuchet MS"/>
                <a:sym typeface="Trebuchet MS"/>
              </a:rPr>
              <a:t>Ajuste fuera de fold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60" name="Google Shape;260;p10"/>
          <p:cNvGraphicFramePr/>
          <p:nvPr/>
        </p:nvGraphicFramePr>
        <p:xfrm>
          <a:off x="548640" y="20116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{1ADFBC55-9A76-4699-927D-57125D9DC0BA}</a:tableStyleId>
              </a:tblPr>
              <a:tblGrid>
                <a:gridCol w="1783075"/>
                <a:gridCol w="1097275"/>
                <a:gridCol w="1188725"/>
                <a:gridCol w="1325875"/>
              </a:tblGrid>
              <a:tr h="438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Trebuchet M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Umbral</a:t>
                      </a:r>
                      <a:endParaRPr sz="12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Trebuchet M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F2</a:t>
                      </a:r>
                      <a:endParaRPr sz="12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Trebuchet M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Recall</a:t>
                      </a:r>
                      <a:endParaRPr sz="12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Trebuchet M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Precision</a:t>
                      </a:r>
                      <a:endParaRPr sz="12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7C86"/>
                    </a:solidFill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833A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E88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0,27 (final)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D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0,797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D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0,906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D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0,537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D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0,50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D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0,698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D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0,707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D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0,662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1" name="Google Shape;261;p10"/>
          <p:cNvSpPr/>
          <p:nvPr/>
        </p:nvSpPr>
        <p:spPr>
          <a:xfrm>
            <a:off x="548640" y="33375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300"/>
              <a:buFont typeface="Trebuchet MS"/>
              <a:buNone/>
            </a:pPr>
            <a:r>
              <a:rPr b="1" lang="en-US" sz="1300">
                <a:solidFill>
                  <a:srgbClr val="0E7C86"/>
                </a:solidFill>
                <a:latin typeface="Trebuchet MS"/>
                <a:ea typeface="Trebuchet MS"/>
                <a:cs typeface="Trebuchet MS"/>
                <a:sym typeface="Trebuchet MS"/>
              </a:rPr>
              <a:t>Resultado final en test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62" name="Google Shape;262;p10"/>
          <p:cNvGraphicFramePr/>
          <p:nvPr/>
        </p:nvGraphicFramePr>
        <p:xfrm>
          <a:off x="548640" y="3657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{1ADFBC55-9A76-4699-927D-57125D9DC0BA}</a:tableStyleId>
              </a:tblPr>
              <a:tblGrid>
                <a:gridCol w="1554475"/>
                <a:gridCol w="1143000"/>
                <a:gridCol w="1554475"/>
                <a:gridCol w="1143000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Trebuchet M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Metrica</a:t>
                      </a:r>
                      <a:endParaRPr sz="12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Trebuchet M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Valor</a:t>
                      </a:r>
                      <a:endParaRPr sz="12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Trebuchet M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Metrica</a:t>
                      </a:r>
                      <a:endParaRPr sz="12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Trebuchet M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Valor</a:t>
                      </a:r>
                      <a:endParaRPr sz="12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7C86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D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F2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7C86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E7C8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0,817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D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PR-AUC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D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0,834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D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Recall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7C86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E7C8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0,911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D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Precision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D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0,579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descr="image.png" id="263" name="Google Shape;26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68212" y="1417320"/>
            <a:ext cx="4882896" cy="406908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10"/>
          <p:cNvSpPr txBox="1"/>
          <p:nvPr/>
        </p:nvSpPr>
        <p:spPr>
          <a:xfrm>
            <a:off x="6263640" y="5504688"/>
            <a:ext cx="4892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>
                <a:solidFill>
                  <a:srgbClr val="0E7C86"/>
                </a:solidFill>
                <a:latin typeface="Trebuchet MS"/>
                <a:ea typeface="Trebuchet MS"/>
                <a:cs typeface="Trebuchet MS"/>
                <a:sym typeface="Trebuchet MS"/>
              </a:rPr>
              <a:t>Matriz de confusion en test</a:t>
            </a:r>
            <a:endParaRPr/>
          </a:p>
        </p:txBody>
      </p:sp>
      <p:sp>
        <p:nvSpPr>
          <p:cNvPr id="265" name="Google Shape;265;p10"/>
          <p:cNvSpPr txBox="1"/>
          <p:nvPr/>
        </p:nvSpPr>
        <p:spPr>
          <a:xfrm>
            <a:off x="6263640" y="5751576"/>
            <a:ext cx="4892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6A7A82"/>
                </a:solidFill>
                <a:latin typeface="Calibri"/>
                <a:ea typeface="Calibri"/>
                <a:cs typeface="Calibri"/>
                <a:sym typeface="Calibri"/>
              </a:rPr>
              <a:t>173 TP / 17 FN / 126 FP / 810 TN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9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1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fmla="val 16129" name="adj"/>
            </a:avLst>
          </a:prstGeom>
          <a:solidFill>
            <a:srgbClr val="0E7C8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b="1" lang="en-US"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1280160" y="457200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150"/>
              <a:buFont typeface="Trebuchet MS"/>
              <a:buNone/>
            </a:pPr>
            <a:r>
              <a:rPr b="1" lang="en-US" sz="1150">
                <a:solidFill>
                  <a:srgbClr val="0E7C86"/>
                </a:solidFill>
                <a:latin typeface="Trebuchet MS"/>
                <a:ea typeface="Trebuchet MS"/>
                <a:cs typeface="Trebuchet MS"/>
                <a:sym typeface="Trebuchet MS"/>
              </a:rPr>
              <a:t>INTERPRETABILIDAD Y LIMITACIONES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1"/>
          <p:cNvSpPr/>
          <p:nvPr/>
        </p:nvSpPr>
        <p:spPr>
          <a:xfrm>
            <a:off x="1280160" y="694944"/>
            <a:ext cx="1036289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34"/>
              </a:buClr>
              <a:buSzPts val="2700"/>
              <a:buFont typeface="Trebuchet MS"/>
              <a:buNone/>
            </a:pPr>
            <a:r>
              <a:rPr b="1" lang="en-US" sz="2700">
                <a:solidFill>
                  <a:srgbClr val="1F2D34"/>
                </a:solidFill>
                <a:latin typeface="Trebuchet MS"/>
                <a:ea typeface="Trebuchet MS"/>
                <a:cs typeface="Trebuchet MS"/>
                <a:sym typeface="Trebuchet MS"/>
              </a:rPr>
              <a:t>Importancia de variables: Permutation + SHAP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7A8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A7A82"/>
                </a:solidFill>
                <a:latin typeface="Calibri"/>
                <a:ea typeface="Calibri"/>
                <a:cs typeface="Calibri"/>
                <a:sym typeface="Calibri"/>
              </a:rPr>
              <a:t>Pipeline de clasificacion de churn  ·  Grupo 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1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A7A8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A7A82"/>
                </a:solidFill>
                <a:latin typeface="Calibri"/>
                <a:ea typeface="Calibri"/>
                <a:cs typeface="Calibri"/>
                <a:sym typeface="Calibri"/>
              </a:rPr>
              <a:t>11 / 11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inal_interpretability_combo.png" id="277" name="Google Shape;27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763537"/>
            <a:ext cx="7543800" cy="3925285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1"/>
          <p:cNvSpPr/>
          <p:nvPr/>
        </p:nvSpPr>
        <p:spPr>
          <a:xfrm>
            <a:off x="8229600" y="1600200"/>
            <a:ext cx="3429000" cy="1874519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E6E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1"/>
          <p:cNvSpPr txBox="1"/>
          <p:nvPr/>
        </p:nvSpPr>
        <p:spPr>
          <a:xfrm>
            <a:off x="8430768" y="1773936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0E7C86"/>
                </a:solidFill>
                <a:latin typeface="Trebuchet MS"/>
                <a:ea typeface="Trebuchet MS"/>
                <a:cs typeface="Trebuchet MS"/>
                <a:sym typeface="Trebuchet MS"/>
              </a:rPr>
              <a:t>Lectura tecnica</a:t>
            </a:r>
            <a:endParaRPr/>
          </a:p>
        </p:txBody>
      </p:sp>
      <p:sp>
        <p:nvSpPr>
          <p:cNvPr id="280" name="Google Shape;280;p11"/>
          <p:cNvSpPr txBox="1"/>
          <p:nvPr/>
        </p:nvSpPr>
        <p:spPr>
          <a:xfrm>
            <a:off x="8485632" y="2176272"/>
            <a:ext cx="289864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9">
                <a:solidFill>
                  <a:srgbClr val="1F2D34"/>
                </a:solidFill>
                <a:latin typeface="Calibri"/>
                <a:ea typeface="Calibri"/>
                <a:cs typeface="Calibri"/>
                <a:sym typeface="Calibri"/>
              </a:rPr>
              <a:t>- Tenure aparece en ambos metodos.</a:t>
            </a:r>
            <a:br>
              <a:rPr b="0" i="0" lang="en-US" sz="1019">
                <a:solidFill>
                  <a:srgbClr val="1F2D3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19">
                <a:solidFill>
                  <a:srgbClr val="1F2D34"/>
                </a:solidFill>
                <a:latin typeface="Calibri"/>
                <a:ea typeface="Calibri"/>
                <a:cs typeface="Calibri"/>
                <a:sym typeface="Calibri"/>
              </a:rPr>
              <a:t>- Cashback y categoria preferida</a:t>
            </a:r>
            <a:br>
              <a:rPr b="0" i="0" lang="en-US" sz="1019">
                <a:solidFill>
                  <a:srgbClr val="1F2D3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19">
                <a:solidFill>
                  <a:srgbClr val="1F2D34"/>
                </a:solidFill>
                <a:latin typeface="Calibri"/>
                <a:ea typeface="Calibri"/>
                <a:cs typeface="Calibri"/>
                <a:sym typeface="Calibri"/>
              </a:rPr>
              <a:t>  sostienen poder explicativo.</a:t>
            </a:r>
            <a:br>
              <a:rPr b="0" i="0" lang="en-US" sz="1019">
                <a:solidFill>
                  <a:srgbClr val="1F2D3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19">
                <a:solidFill>
                  <a:srgbClr val="1F2D34"/>
                </a:solidFill>
                <a:latin typeface="Calibri"/>
                <a:ea typeface="Calibri"/>
                <a:cs typeface="Calibri"/>
                <a:sym typeface="Calibri"/>
              </a:rPr>
              <a:t>- OrdersPerTenure valida el</a:t>
            </a:r>
            <a:br>
              <a:rPr b="0" i="0" lang="en-US" sz="1019">
                <a:solidFill>
                  <a:srgbClr val="1F2D3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19">
                <a:solidFill>
                  <a:srgbClr val="1F2D34"/>
                </a:solidFill>
                <a:latin typeface="Calibri"/>
                <a:ea typeface="Calibri"/>
                <a:cs typeface="Calibri"/>
                <a:sym typeface="Calibri"/>
              </a:rPr>
              <a:t>  feature engineering.</a:t>
            </a:r>
            <a:endParaRPr/>
          </a:p>
        </p:txBody>
      </p:sp>
      <p:sp>
        <p:nvSpPr>
          <p:cNvPr id="281" name="Google Shape;281;p11"/>
          <p:cNvSpPr/>
          <p:nvPr/>
        </p:nvSpPr>
        <p:spPr>
          <a:xfrm>
            <a:off x="8229600" y="3703320"/>
            <a:ext cx="3429000" cy="1920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E6E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1"/>
          <p:cNvSpPr txBox="1"/>
          <p:nvPr/>
        </p:nvSpPr>
        <p:spPr>
          <a:xfrm>
            <a:off x="8430768" y="3877056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E8833A"/>
                </a:solidFill>
                <a:latin typeface="Trebuchet MS"/>
                <a:ea typeface="Trebuchet MS"/>
                <a:cs typeface="Trebuchet MS"/>
                <a:sym typeface="Trebuchet MS"/>
              </a:rPr>
              <a:t>Limites</a:t>
            </a:r>
            <a:endParaRPr/>
          </a:p>
        </p:txBody>
      </p:sp>
      <p:sp>
        <p:nvSpPr>
          <p:cNvPr id="283" name="Google Shape;283;p11"/>
          <p:cNvSpPr txBox="1"/>
          <p:nvPr/>
        </p:nvSpPr>
        <p:spPr>
          <a:xfrm>
            <a:off x="8485632" y="4279392"/>
            <a:ext cx="2898648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9">
                <a:solidFill>
                  <a:srgbClr val="1F2D34"/>
                </a:solidFill>
                <a:latin typeface="Calibri"/>
                <a:ea typeface="Calibri"/>
                <a:cs typeface="Calibri"/>
                <a:sym typeface="Calibri"/>
              </a:rPr>
              <a:t>- Dataset observacional</a:t>
            </a:r>
            <a:br>
              <a:rPr b="0" i="0" lang="en-US" sz="1019">
                <a:solidFill>
                  <a:srgbClr val="1F2D3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19">
                <a:solidFill>
                  <a:srgbClr val="1F2D34"/>
                </a:solidFill>
                <a:latin typeface="Calibri"/>
                <a:ea typeface="Calibri"/>
                <a:cs typeface="Calibri"/>
                <a:sym typeface="Calibri"/>
              </a:rPr>
              <a:t>- Temporalidad incompleta</a:t>
            </a:r>
            <a:br>
              <a:rPr b="0" i="0" lang="en-US" sz="1019">
                <a:solidFill>
                  <a:srgbClr val="1F2D3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19">
                <a:solidFill>
                  <a:srgbClr val="1F2D34"/>
                </a:solidFill>
                <a:latin typeface="Calibri"/>
                <a:ea typeface="Calibri"/>
                <a:cs typeface="Calibri"/>
                <a:sym typeface="Calibri"/>
              </a:rPr>
              <a:t>- Precision final 57,9%</a:t>
            </a:r>
            <a:br>
              <a:rPr b="0" i="0" lang="en-US" sz="1019">
                <a:solidFill>
                  <a:srgbClr val="1F2D3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19">
                <a:solidFill>
                  <a:srgbClr val="1F2D34"/>
                </a:solidFill>
                <a:latin typeface="Calibri"/>
                <a:ea typeface="Calibri"/>
                <a:cs typeface="Calibri"/>
                <a:sym typeface="Calibri"/>
              </a:rPr>
              <a:t>- Importancia no implica</a:t>
            </a:r>
            <a:br>
              <a:rPr b="0" i="0" lang="en-US" sz="1019">
                <a:solidFill>
                  <a:srgbClr val="1F2D3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19">
                <a:solidFill>
                  <a:srgbClr val="1F2D34"/>
                </a:solidFill>
                <a:latin typeface="Calibri"/>
                <a:ea typeface="Calibri"/>
                <a:cs typeface="Calibri"/>
                <a:sym typeface="Calibri"/>
              </a:rPr>
              <a:t>  causalidad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9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f197388dee_0_3"/>
          <p:cNvSpPr/>
          <p:nvPr/>
        </p:nvSpPr>
        <p:spPr>
          <a:xfrm>
            <a:off x="548640" y="457200"/>
            <a:ext cx="567000" cy="567000"/>
          </a:xfrm>
          <a:prstGeom prst="roundRect">
            <a:avLst>
              <a:gd fmla="val 16129" name="adj"/>
            </a:avLst>
          </a:prstGeom>
          <a:solidFill>
            <a:srgbClr val="0E7C8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g3f197388dee_0_3"/>
          <p:cNvSpPr/>
          <p:nvPr/>
        </p:nvSpPr>
        <p:spPr>
          <a:xfrm>
            <a:off x="548640" y="457200"/>
            <a:ext cx="567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b="1" lang="en-US" sz="1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11</a:t>
            </a:r>
            <a:endParaRPr/>
          </a:p>
        </p:txBody>
      </p:sp>
      <p:sp>
        <p:nvSpPr>
          <p:cNvPr id="290" name="Google Shape;290;g3f197388dee_0_3"/>
          <p:cNvSpPr/>
          <p:nvPr/>
        </p:nvSpPr>
        <p:spPr>
          <a:xfrm>
            <a:off x="1280160" y="457200"/>
            <a:ext cx="9999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150"/>
              <a:buFont typeface="Trebuchet MS"/>
              <a:buNone/>
            </a:pPr>
            <a:r>
              <a:rPr b="1" lang="en-US" sz="1150">
                <a:solidFill>
                  <a:srgbClr val="0E7C86"/>
                </a:solidFill>
                <a:latin typeface="Trebuchet MS"/>
                <a:ea typeface="Trebuchet MS"/>
                <a:cs typeface="Trebuchet MS"/>
                <a:sym typeface="Trebuchet MS"/>
              </a:rPr>
              <a:t>MODELOS ADICIONALES: ExtraTrees, AdaBoost, XGBoost y LightGBM</a:t>
            </a:r>
            <a:endParaRPr/>
          </a:p>
        </p:txBody>
      </p:sp>
      <p:sp>
        <p:nvSpPr>
          <p:cNvPr id="291" name="Google Shape;291;g3f197388dee_0_3"/>
          <p:cNvSpPr/>
          <p:nvPr/>
        </p:nvSpPr>
        <p:spPr>
          <a:xfrm>
            <a:off x="1280160" y="798369"/>
            <a:ext cx="10500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34"/>
              </a:buClr>
              <a:buSzPts val="2700"/>
              <a:buFont typeface="Trebuchet MS"/>
              <a:buNone/>
            </a:pPr>
            <a:r>
              <a:rPr b="1" lang="en-US" sz="2700">
                <a:solidFill>
                  <a:srgbClr val="1F2D34"/>
                </a:solidFill>
                <a:latin typeface="Trebuchet MS"/>
                <a:ea typeface="Trebuchet MS"/>
                <a:cs typeface="Trebuchet MS"/>
                <a:sym typeface="Trebuchet MS"/>
              </a:rPr>
              <a:t>Comparacion fuera de fold: 7 modelos, mismas features y CV agrupada</a:t>
            </a:r>
            <a:endParaRPr/>
          </a:p>
        </p:txBody>
      </p:sp>
      <p:sp>
        <p:nvSpPr>
          <p:cNvPr id="292" name="Google Shape;292;g3f197388dee_0_3"/>
          <p:cNvSpPr/>
          <p:nvPr/>
        </p:nvSpPr>
        <p:spPr>
          <a:xfrm>
            <a:off x="548640" y="6473952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7A8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A7A82"/>
                </a:solidFill>
                <a:latin typeface="Calibri"/>
                <a:ea typeface="Calibri"/>
                <a:cs typeface="Calibri"/>
                <a:sym typeface="Calibri"/>
              </a:rPr>
              <a:t>Pipeline de clasificacion de churn  ·  Grupo 1</a:t>
            </a:r>
            <a:endParaRPr/>
          </a:p>
        </p:txBody>
      </p:sp>
      <p:sp>
        <p:nvSpPr>
          <p:cNvPr id="293" name="Google Shape;293;g3f197388dee_0_3"/>
          <p:cNvSpPr/>
          <p:nvPr/>
        </p:nvSpPr>
        <p:spPr>
          <a:xfrm>
            <a:off x="10545775" y="6473952"/>
            <a:ext cx="1097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A7A8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A7A82"/>
                </a:solidFill>
                <a:latin typeface="Calibri"/>
                <a:ea typeface="Calibri"/>
                <a:cs typeface="Calibri"/>
                <a:sym typeface="Calibri"/>
              </a:rPr>
              <a:t>12 / 12</a:t>
            </a:r>
            <a:endParaRPr/>
          </a:p>
        </p:txBody>
      </p:sp>
      <p:graphicFrame>
        <p:nvGraphicFramePr>
          <p:cNvPr id="294" name="Google Shape;294;g3f197388dee_0_3"/>
          <p:cNvGraphicFramePr/>
          <p:nvPr/>
        </p:nvGraphicFramePr>
        <p:xfrm>
          <a:off x="1148628" y="1935950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{619BD92B-D55E-4E1C-A2CB-E358C4518BFC}</a:tableStyleId>
              </a:tblPr>
              <a:tblGrid>
                <a:gridCol w="2584275"/>
                <a:gridCol w="1244275"/>
                <a:gridCol w="1244275"/>
                <a:gridCol w="1435700"/>
                <a:gridCol w="1435700"/>
                <a:gridCol w="1526375"/>
              </a:tblGrid>
              <a:tr h="302750">
                <a:tc>
                  <a:txBody>
                    <a:bodyPr/>
                    <a:lstStyle/>
                    <a:p>
                      <a:pPr indent="0" lvl="0" marL="9144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Modelo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2D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F2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2D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Recall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2D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Precision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2D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PR-AUC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2D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Churn detectado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2D34"/>
                    </a:solidFill>
                  </a:tcPr>
                </a:tc>
              </a:tr>
              <a:tr h="286800">
                <a:tc>
                  <a:txBody>
                    <a:bodyPr/>
                    <a:lstStyle/>
                    <a:p>
                      <a:pPr indent="0" lvl="0" marL="9144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5A6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E5A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LightGBM</a:t>
                      </a:r>
                      <a:r>
                        <a:rPr b="0" lang="en-US" sz="900" u="none" cap="none" strike="noStrike">
                          <a:solidFill>
                            <a:srgbClr val="0E7C8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← mejor F2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6F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5A6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E5A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0,827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6F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5A6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E5A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0,822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6F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5A6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E5A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0,845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6F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5A6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E5A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0,874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6F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5A6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E5A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628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6F4F5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9144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4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D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XGBoost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4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D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0,810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4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D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0,805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4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D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0,833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4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D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0,869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4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D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615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286800">
                <a:tc>
                  <a:txBody>
                    <a:bodyPr/>
                    <a:lstStyle/>
                    <a:p>
                      <a:pPr indent="0" lvl="0" marL="9144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4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D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ExtraTrees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4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D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0,805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4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D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0,830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4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D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0,717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4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D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0,839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4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D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634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8F9"/>
                    </a:solidFill>
                  </a:tcPr>
                </a:tc>
              </a:tr>
              <a:tr h="286800">
                <a:tc>
                  <a:txBody>
                    <a:bodyPr/>
                    <a:lstStyle/>
                    <a:p>
                      <a:pPr indent="0" lvl="0" marL="9144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803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E880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Random Forest</a:t>
                      </a:r>
                      <a:r>
                        <a:rPr b="0" lang="en-US" sz="900" u="none" cap="none" strike="noStrike">
                          <a:solidFill>
                            <a:srgbClr val="E880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(modelo actual)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EF4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803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E880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0,797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EF4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803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E880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0,906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EF4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803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E880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0,537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EF4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803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E880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0,770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EF4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803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E880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631*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EF4EC"/>
                    </a:solidFill>
                  </a:tcPr>
                </a:tc>
              </a:tr>
              <a:tr h="286800">
                <a:tc>
                  <a:txBody>
                    <a:bodyPr/>
                    <a:lstStyle/>
                    <a:p>
                      <a:pPr indent="0" lvl="0" marL="9144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A7A82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6A7A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Regresion logistica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A7A82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6A7A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0,725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A7A82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6A7A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0,826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A7A82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6A7A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0,487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A7A82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6A7A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0,713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A7A82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6A7A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631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286800">
                <a:tc>
                  <a:txBody>
                    <a:bodyPr/>
                    <a:lstStyle/>
                    <a:p>
                      <a:pPr indent="0" lvl="0" marL="9144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A7A82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6A7A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Arbol de decision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A7A82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6A7A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0,687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A7A82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6A7A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0,772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A7A82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6A7A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0,477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A7A82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6A7A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0,656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A7A82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6A7A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590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8F9"/>
                    </a:solidFill>
                  </a:tcPr>
                </a:tc>
              </a:tr>
              <a:tr h="286800">
                <a:tc>
                  <a:txBody>
                    <a:bodyPr/>
                    <a:lstStyle/>
                    <a:p>
                      <a:pPr indent="0" lvl="0" marL="9144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A7A82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6A7A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AdaBoost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A7A82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6A7A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0,010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A7A82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6A7A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0,008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A7A82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6A7A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0,857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A7A82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6A7A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0,555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A7A82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6A7A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5" name="Google Shape;295;g3f197388dee_0_3"/>
          <p:cNvSpPr/>
          <p:nvPr/>
        </p:nvSpPr>
        <p:spPr>
          <a:xfrm>
            <a:off x="548700" y="4490229"/>
            <a:ext cx="11094600" cy="2026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E6E9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E2A38">
                <a:alpha val="1293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g3f197388dee_0_3"/>
          <p:cNvSpPr/>
          <p:nvPr/>
        </p:nvSpPr>
        <p:spPr>
          <a:xfrm>
            <a:off x="731575" y="4520213"/>
            <a:ext cx="10779900" cy="16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probaron 4 modelos de ensamble adicionales junto a los 3 originales: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ExtraTrees</a:t>
            </a: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(como Random Forest, pero con cortes aleatorios en lugar de buscar el mejor corte, para reducir varianza)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AdaBoost</a:t>
            </a: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(boosting secuencial que pondera más los errores del paso anterior),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XGBoost</a:t>
            </a: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(gradient boosting optimizado con regularización)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LightGBM</a:t>
            </a: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(gradient boosting por histogramas, eficiente en datasets medianos). LightGBM y XGBoost superan al Random Forest actual en F2 (OOF). Todos usan las mismas features (sin Complain ni DaySinceLastOrder), la misma CV agrupada de 5 folds y la misma métrica principal F2. La comparación es justa porque el criterio experimental es idéntico al del modelo seleccionado.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 RF OOF con umbral por defecto 0,50. AdaBoost colapsó a recall casi 0 con este desbalance: no apto para detección de churn.</a:t>
            </a:r>
            <a:endParaRPr i="1"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rgbClr val="6A7A82"/>
              </a:buClr>
              <a:buSzPts val="950"/>
              <a:buFont typeface="Calibri"/>
              <a:buNone/>
            </a:pPr>
            <a:r>
              <a:t/>
            </a:r>
            <a:endParaRPr b="1" sz="900">
              <a:solidFill>
                <a:srgbClr val="0E7C8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2A38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2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E8833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2"/>
          <p:cNvSpPr/>
          <p:nvPr/>
        </p:nvSpPr>
        <p:spPr>
          <a:xfrm>
            <a:off x="914400" y="54864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A0AB"/>
              </a:buClr>
              <a:buSzPts val="1400"/>
              <a:buFont typeface="Trebuchet MS"/>
              <a:buNone/>
            </a:pPr>
            <a:r>
              <a:rPr b="1" lang="en-US" sz="1400">
                <a:solidFill>
                  <a:srgbClr val="1AA0AB"/>
                </a:solidFill>
                <a:latin typeface="Trebuchet MS"/>
                <a:ea typeface="Trebuchet MS"/>
                <a:cs typeface="Trebuchet MS"/>
                <a:sym typeface="Trebuchet MS"/>
              </a:rPr>
              <a:t>CONCLUSION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2"/>
          <p:cNvSpPr/>
          <p:nvPr/>
        </p:nvSpPr>
        <p:spPr>
          <a:xfrm>
            <a:off x="914400" y="91440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rebuchet MS"/>
              <a:buNone/>
            </a:pPr>
            <a:r>
              <a:rPr b="1" lang="en-US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Decisiones tecnicas clave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2"/>
          <p:cNvSpPr/>
          <p:nvPr/>
        </p:nvSpPr>
        <p:spPr>
          <a:xfrm>
            <a:off x="914400" y="1828800"/>
            <a:ext cx="5120640" cy="914400"/>
          </a:xfrm>
          <a:prstGeom prst="rect">
            <a:avLst/>
          </a:prstGeom>
          <a:solidFill>
            <a:srgbClr val="10394B"/>
          </a:solidFill>
          <a:ln cap="flat" cmpd="sng" w="12700">
            <a:solidFill>
              <a:srgbClr val="1E46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2"/>
          <p:cNvSpPr/>
          <p:nvPr/>
        </p:nvSpPr>
        <p:spPr>
          <a:xfrm>
            <a:off x="1097280" y="2084832"/>
            <a:ext cx="411480" cy="41148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2"/>
          <p:cNvSpPr/>
          <p:nvPr/>
        </p:nvSpPr>
        <p:spPr>
          <a:xfrm>
            <a:off x="1097280" y="2084832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rebuchet MS"/>
              <a:buNone/>
            </a:pPr>
            <a:r>
              <a:rPr b="1" lang="en-US" sz="1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2"/>
          <p:cNvSpPr/>
          <p:nvPr/>
        </p:nvSpPr>
        <p:spPr>
          <a:xfrm>
            <a:off x="1691640" y="1938528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rebuchet MS"/>
              <a:buNone/>
            </a:pPr>
            <a:r>
              <a:rPr b="1" lang="en-US" sz="1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Split por grupos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2"/>
          <p:cNvSpPr/>
          <p:nvPr/>
        </p:nvSpPr>
        <p:spPr>
          <a:xfrm>
            <a:off x="1691640" y="2240280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7DD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C7D7DD"/>
                </a:solidFill>
                <a:latin typeface="Calibri"/>
                <a:ea typeface="Calibri"/>
                <a:cs typeface="Calibri"/>
                <a:sym typeface="Calibri"/>
              </a:rPr>
              <a:t>Neutraliza los 556 perfiles duplicados y evita fuga train/test.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2"/>
          <p:cNvSpPr/>
          <p:nvPr/>
        </p:nvSpPr>
        <p:spPr>
          <a:xfrm>
            <a:off x="6400800" y="1828800"/>
            <a:ext cx="5120640" cy="914400"/>
          </a:xfrm>
          <a:prstGeom prst="rect">
            <a:avLst/>
          </a:prstGeom>
          <a:solidFill>
            <a:srgbClr val="10394B"/>
          </a:solidFill>
          <a:ln cap="flat" cmpd="sng" w="12700">
            <a:solidFill>
              <a:srgbClr val="1E46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2"/>
          <p:cNvSpPr/>
          <p:nvPr/>
        </p:nvSpPr>
        <p:spPr>
          <a:xfrm>
            <a:off x="6583680" y="2084832"/>
            <a:ext cx="411480" cy="41148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2"/>
          <p:cNvSpPr/>
          <p:nvPr/>
        </p:nvSpPr>
        <p:spPr>
          <a:xfrm>
            <a:off x="6583680" y="2084832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rebuchet MS"/>
              <a:buNone/>
            </a:pPr>
            <a:r>
              <a:rPr b="1" lang="en-US" sz="1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2"/>
          <p:cNvSpPr/>
          <p:nvPr/>
        </p:nvSpPr>
        <p:spPr>
          <a:xfrm>
            <a:off x="7178040" y="1938528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rebuchet MS"/>
              <a:buNone/>
            </a:pPr>
            <a:r>
              <a:rPr b="1" lang="en-US" sz="1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Todo dentro del fold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2"/>
          <p:cNvSpPr/>
          <p:nvPr/>
        </p:nvSpPr>
        <p:spPr>
          <a:xfrm>
            <a:off x="7178040" y="2240280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7DD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C7D7DD"/>
                </a:solidFill>
                <a:latin typeface="Calibri"/>
                <a:ea typeface="Calibri"/>
                <a:cs typeface="Calibri"/>
                <a:sym typeface="Calibri"/>
              </a:rPr>
              <a:t>Imputacion y preprocesamiento aprenden solo del train de cada fold.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2"/>
          <p:cNvSpPr/>
          <p:nvPr/>
        </p:nvSpPr>
        <p:spPr>
          <a:xfrm>
            <a:off x="914400" y="2880360"/>
            <a:ext cx="5120640" cy="914400"/>
          </a:xfrm>
          <a:prstGeom prst="rect">
            <a:avLst/>
          </a:prstGeom>
          <a:solidFill>
            <a:srgbClr val="10394B"/>
          </a:solidFill>
          <a:ln cap="flat" cmpd="sng" w="12700">
            <a:solidFill>
              <a:srgbClr val="1E46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2"/>
          <p:cNvSpPr/>
          <p:nvPr/>
        </p:nvSpPr>
        <p:spPr>
          <a:xfrm>
            <a:off x="1097280" y="3136392"/>
            <a:ext cx="411480" cy="41148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2"/>
          <p:cNvSpPr/>
          <p:nvPr/>
        </p:nvSpPr>
        <p:spPr>
          <a:xfrm>
            <a:off x="1097280" y="3136392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rebuchet MS"/>
              <a:buNone/>
            </a:pPr>
            <a:r>
              <a:rPr b="1" lang="en-US" sz="1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2"/>
          <p:cNvSpPr/>
          <p:nvPr/>
        </p:nvSpPr>
        <p:spPr>
          <a:xfrm>
            <a:off x="1691640" y="2990088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rebuchet MS"/>
              <a:buNone/>
            </a:pPr>
            <a:r>
              <a:rPr b="1" lang="en-US" sz="1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Exclusion conservadora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2"/>
          <p:cNvSpPr/>
          <p:nvPr/>
        </p:nvSpPr>
        <p:spPr>
          <a:xfrm>
            <a:off x="1691640" y="3291840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7DD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C7D7DD"/>
                </a:solidFill>
                <a:latin typeface="Calibri"/>
                <a:ea typeface="Calibri"/>
                <a:cs typeface="Calibri"/>
                <a:sym typeface="Calibri"/>
              </a:rPr>
              <a:t>Complain y DaySinceLastOrder fuera por temporalidad no garantizada.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2"/>
          <p:cNvSpPr/>
          <p:nvPr/>
        </p:nvSpPr>
        <p:spPr>
          <a:xfrm>
            <a:off x="6400800" y="2880360"/>
            <a:ext cx="5120640" cy="914400"/>
          </a:xfrm>
          <a:prstGeom prst="rect">
            <a:avLst/>
          </a:prstGeom>
          <a:solidFill>
            <a:srgbClr val="10394B"/>
          </a:solidFill>
          <a:ln cap="flat" cmpd="sng" w="12700">
            <a:solidFill>
              <a:srgbClr val="1E46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2"/>
          <p:cNvSpPr/>
          <p:nvPr/>
        </p:nvSpPr>
        <p:spPr>
          <a:xfrm>
            <a:off x="6583680" y="3136392"/>
            <a:ext cx="411480" cy="41148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2"/>
          <p:cNvSpPr/>
          <p:nvPr/>
        </p:nvSpPr>
        <p:spPr>
          <a:xfrm>
            <a:off x="6583680" y="3136392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rebuchet MS"/>
              <a:buNone/>
            </a:pPr>
            <a:r>
              <a:rPr b="1" lang="en-US" sz="1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4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2"/>
          <p:cNvSpPr/>
          <p:nvPr/>
        </p:nvSpPr>
        <p:spPr>
          <a:xfrm>
            <a:off x="7178040" y="2990088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rebuchet MS"/>
              <a:buNone/>
            </a:pPr>
            <a:r>
              <a:rPr b="1" lang="en-US" sz="1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Decision antes de test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2"/>
          <p:cNvSpPr/>
          <p:nvPr/>
        </p:nvSpPr>
        <p:spPr>
          <a:xfrm>
            <a:off x="7178040" y="3291840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7DD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C7D7DD"/>
                </a:solidFill>
                <a:latin typeface="Calibri"/>
                <a:ea typeface="Calibri"/>
                <a:cs typeface="Calibri"/>
                <a:sym typeface="Calibri"/>
              </a:rPr>
              <a:t>Modelo y umbral 0,27 fijados con F2 y recall como prioridad.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2"/>
          <p:cNvSpPr/>
          <p:nvPr/>
        </p:nvSpPr>
        <p:spPr>
          <a:xfrm>
            <a:off x="914400" y="4114800"/>
            <a:ext cx="10360152" cy="123444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2"/>
          <p:cNvSpPr/>
          <p:nvPr/>
        </p:nvSpPr>
        <p:spPr>
          <a:xfrm>
            <a:off x="1280160" y="4114800"/>
            <a:ext cx="960120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F2F5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C9F2F5"/>
                </a:solidFill>
                <a:latin typeface="Calibri"/>
                <a:ea typeface="Calibri"/>
                <a:cs typeface="Calibri"/>
                <a:sym typeface="Calibri"/>
              </a:rPr>
              <a:t>Resultado final   </a:t>
            </a:r>
            <a:r>
              <a:rPr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Random Forest tuneado, umbral 0,27: </a:t>
            </a: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detecta el 91,1% de los churns (recall) con F2 = 0,817 y precision 57,9% en test, reduciendo casi a la mitad las falsas alertas frente a la logistica.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2"/>
          <p:cNvSpPr/>
          <p:nvPr/>
        </p:nvSpPr>
        <p:spPr>
          <a:xfrm>
            <a:off x="914400" y="5577840"/>
            <a:ext cx="103601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8C0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9FB8C0"/>
                </a:solidFill>
                <a:latin typeface="Calibri"/>
                <a:ea typeface="Calibri"/>
                <a:cs typeface="Calibri"/>
                <a:sym typeface="Calibri"/>
              </a:rPr>
              <a:t>Pipeline reproducible y honesto sobre sus limitaciones: prioriza no perder clientes en riesgo y deja la calibracion economica a la presentacion de negocios.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2026-06-16T00:40:39Z</dcterms:created>
  <dc:creator>Grupo 1</dc:creator>
</cp:coreProperties>
</file>